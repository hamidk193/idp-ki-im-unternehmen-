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23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82546" autoAdjust="0"/>
  </p:normalViewPr>
  <p:slideViewPr>
    <p:cSldViewPr snapToGrid="0" snapToObjects="1">
      <p:cViewPr varScale="1">
        <p:scale>
          <a:sx n="131" d="100"/>
          <a:sy n="131" d="100"/>
        </p:scale>
        <p:origin x="1416" y="126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heme" Target="theme/theme1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93854953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dirty="0"/>
              <a:t>Zeit: ca. 0:30</a:t>
            </a:r>
          </a:p>
          <a:p>
            <a:r>
              <a:rPr dirty="0"/>
              <a:t>- Einen </a:t>
            </a:r>
            <a:r>
              <a:rPr dirty="0" err="1"/>
              <a:t>schönen</a:t>
            </a:r>
            <a:r>
              <a:rPr dirty="0"/>
              <a:t> </a:t>
            </a:r>
            <a:r>
              <a:rPr dirty="0" err="1"/>
              <a:t>guten</a:t>
            </a:r>
            <a:r>
              <a:rPr dirty="0"/>
              <a:t> Tag </a:t>
            </a:r>
            <a:r>
              <a:rPr dirty="0" err="1"/>
              <a:t>zusammen</a:t>
            </a:r>
            <a:r>
              <a:rPr dirty="0"/>
              <a:t>, </a:t>
            </a:r>
            <a:r>
              <a:rPr dirty="0" err="1"/>
              <a:t>wir</a:t>
            </a:r>
            <a:r>
              <a:rPr dirty="0"/>
              <a:t> </a:t>
            </a:r>
            <a:r>
              <a:rPr dirty="0" err="1"/>
              <a:t>freuen</a:t>
            </a:r>
            <a:r>
              <a:rPr dirty="0"/>
              <a:t> </a:t>
            </a:r>
            <a:r>
              <a:rPr dirty="0" err="1"/>
              <a:t>uns</a:t>
            </a:r>
            <a:r>
              <a:rPr dirty="0"/>
              <a:t>, </a:t>
            </a:r>
            <a:r>
              <a:rPr dirty="0" err="1"/>
              <a:t>dass</a:t>
            </a:r>
            <a:r>
              <a:rPr dirty="0"/>
              <a:t> </a:t>
            </a:r>
            <a:r>
              <a:rPr dirty="0" err="1"/>
              <a:t>ihr</a:t>
            </a:r>
            <a:r>
              <a:rPr dirty="0"/>
              <a:t> da </a:t>
            </a:r>
            <a:r>
              <a:rPr dirty="0" err="1"/>
              <a:t>seid</a:t>
            </a:r>
            <a:r>
              <a:rPr dirty="0"/>
              <a:t>. Wir </a:t>
            </a:r>
            <a:r>
              <a:rPr dirty="0" err="1"/>
              <a:t>sind</a:t>
            </a:r>
            <a:r>
              <a:rPr dirty="0"/>
              <a:t> Abdulhamid Karatas und Kadir Atar und </a:t>
            </a:r>
            <a:r>
              <a:rPr dirty="0" err="1"/>
              <a:t>stellen</a:t>
            </a:r>
            <a:r>
              <a:rPr dirty="0"/>
              <a:t> </a:t>
            </a:r>
            <a:r>
              <a:rPr dirty="0" err="1"/>
              <a:t>euch</a:t>
            </a:r>
            <a:r>
              <a:rPr dirty="0"/>
              <a:t> </a:t>
            </a:r>
            <a:r>
              <a:rPr dirty="0" err="1"/>
              <a:t>heute</a:t>
            </a:r>
            <a:r>
              <a:rPr dirty="0"/>
              <a:t> </a:t>
            </a:r>
            <a:r>
              <a:rPr dirty="0" err="1"/>
              <a:t>unser</a:t>
            </a:r>
            <a:r>
              <a:rPr dirty="0"/>
              <a:t> </a:t>
            </a:r>
            <a:r>
              <a:rPr dirty="0" err="1"/>
              <a:t>Interdisziplinäres</a:t>
            </a:r>
            <a:r>
              <a:rPr dirty="0"/>
              <a:t> Projekt an der Hochschule Pforzheim </a:t>
            </a:r>
            <a:r>
              <a:rPr dirty="0" err="1"/>
              <a:t>vor</a:t>
            </a:r>
            <a:r>
              <a:rPr dirty="0"/>
              <a:t>.</a:t>
            </a:r>
          </a:p>
          <a:p>
            <a:r>
              <a:rPr dirty="0"/>
              <a:t>- Unser Thema </a:t>
            </a:r>
            <a:r>
              <a:rPr dirty="0" err="1"/>
              <a:t>ist</a:t>
            </a:r>
            <a:r>
              <a:rPr dirty="0"/>
              <a:t> </a:t>
            </a:r>
            <a:r>
              <a:rPr dirty="0" err="1"/>
              <a:t>Künstliche</a:t>
            </a:r>
            <a:r>
              <a:rPr dirty="0"/>
              <a:t> </a:t>
            </a:r>
            <a:r>
              <a:rPr dirty="0" err="1"/>
              <a:t>Intelligenz</a:t>
            </a:r>
            <a:r>
              <a:rPr dirty="0"/>
              <a:t> für </a:t>
            </a:r>
            <a:r>
              <a:rPr dirty="0" err="1"/>
              <a:t>kleine</a:t>
            </a:r>
            <a:r>
              <a:rPr dirty="0"/>
              <a:t> </a:t>
            </a:r>
            <a:r>
              <a:rPr dirty="0" err="1"/>
              <a:t>Unternehmen</a:t>
            </a:r>
            <a:r>
              <a:rPr dirty="0"/>
              <a:t>, also die Frage, </a:t>
            </a:r>
            <a:r>
              <a:rPr dirty="0" err="1"/>
              <a:t>wie</a:t>
            </a:r>
            <a:r>
              <a:rPr dirty="0"/>
              <a:t> </a:t>
            </a:r>
            <a:r>
              <a:rPr dirty="0" err="1"/>
              <a:t>auch</a:t>
            </a:r>
            <a:r>
              <a:rPr dirty="0"/>
              <a:t> </a:t>
            </a:r>
            <a:r>
              <a:rPr dirty="0" err="1"/>
              <a:t>ein</a:t>
            </a:r>
            <a:r>
              <a:rPr dirty="0"/>
              <a:t> </a:t>
            </a:r>
            <a:r>
              <a:rPr dirty="0" err="1"/>
              <a:t>kleiner</a:t>
            </a:r>
            <a:r>
              <a:rPr dirty="0"/>
              <a:t> </a:t>
            </a:r>
            <a:r>
              <a:rPr dirty="0" err="1"/>
              <a:t>Betrieb</a:t>
            </a:r>
            <a:r>
              <a:rPr dirty="0"/>
              <a:t> </a:t>
            </a:r>
            <a:r>
              <a:rPr dirty="0" err="1"/>
              <a:t>ganz</a:t>
            </a:r>
            <a:r>
              <a:rPr dirty="0"/>
              <a:t> </a:t>
            </a:r>
            <a:r>
              <a:rPr dirty="0" err="1"/>
              <a:t>konkret</a:t>
            </a:r>
            <a:r>
              <a:rPr dirty="0"/>
              <a:t> von KI </a:t>
            </a:r>
            <a:r>
              <a:rPr dirty="0" err="1"/>
              <a:t>profitieren</a:t>
            </a:r>
            <a:r>
              <a:rPr dirty="0"/>
              <a:t> </a:t>
            </a:r>
            <a:r>
              <a:rPr dirty="0" err="1"/>
              <a:t>kann</a:t>
            </a:r>
            <a:r>
              <a:rPr dirty="0"/>
              <a:t>.</a:t>
            </a:r>
          </a:p>
          <a:p>
            <a:r>
              <a:rPr dirty="0"/>
              <a:t>- Zeigen </a:t>
            </a:r>
            <a:r>
              <a:rPr dirty="0" err="1"/>
              <a:t>werden</a:t>
            </a:r>
            <a:r>
              <a:rPr dirty="0"/>
              <a:t> </a:t>
            </a:r>
            <a:r>
              <a:rPr dirty="0" err="1"/>
              <a:t>wir</a:t>
            </a:r>
            <a:r>
              <a:rPr dirty="0"/>
              <a:t> das am </a:t>
            </a:r>
            <a:r>
              <a:rPr dirty="0" err="1"/>
              <a:t>Beispiel</a:t>
            </a:r>
            <a:r>
              <a:rPr dirty="0"/>
              <a:t> </a:t>
            </a:r>
            <a:r>
              <a:rPr dirty="0" err="1"/>
              <a:t>eines</a:t>
            </a:r>
            <a:r>
              <a:rPr dirty="0"/>
              <a:t> KI-Controlling-Cockpits, das </a:t>
            </a:r>
            <a:r>
              <a:rPr dirty="0" err="1"/>
              <a:t>wir</a:t>
            </a:r>
            <a:r>
              <a:rPr dirty="0"/>
              <a:t> </a:t>
            </a:r>
            <a:r>
              <a:rPr dirty="0" err="1"/>
              <a:t>selbst</a:t>
            </a:r>
            <a:r>
              <a:rPr dirty="0"/>
              <a:t> </a:t>
            </a:r>
            <a:r>
              <a:rPr dirty="0" err="1"/>
              <a:t>aufgebaut</a:t>
            </a:r>
            <a:r>
              <a:rPr dirty="0"/>
              <a:t> </a:t>
            </a:r>
            <a:r>
              <a:rPr dirty="0" err="1"/>
              <a:t>haben</a:t>
            </a:r>
            <a:r>
              <a:rPr dirty="0"/>
              <a:t>.</a:t>
            </a:r>
          </a:p>
          <a:p>
            <a:r>
              <a:rPr dirty="0"/>
              <a:t>- </a:t>
            </a:r>
            <a:r>
              <a:rPr dirty="0" err="1"/>
              <a:t>Betreut</a:t>
            </a:r>
            <a:r>
              <a:rPr dirty="0"/>
              <a:t> </a:t>
            </a:r>
            <a:r>
              <a:rPr dirty="0" err="1"/>
              <a:t>wurde</a:t>
            </a:r>
            <a:r>
              <a:rPr dirty="0"/>
              <a:t> </a:t>
            </a:r>
            <a:r>
              <a:rPr dirty="0" err="1"/>
              <a:t>unsere</a:t>
            </a:r>
            <a:r>
              <a:rPr dirty="0"/>
              <a:t> Arbeit von Prof. Dr. Bettina Binder, </a:t>
            </a:r>
            <a:r>
              <a:rPr dirty="0" err="1"/>
              <a:t>bei</a:t>
            </a:r>
            <a:r>
              <a:rPr dirty="0"/>
              <a:t> der </a:t>
            </a:r>
            <a:r>
              <a:rPr dirty="0" err="1"/>
              <a:t>wir</a:t>
            </a:r>
            <a:r>
              <a:rPr dirty="0"/>
              <a:t> </a:t>
            </a:r>
            <a:r>
              <a:rPr dirty="0" err="1"/>
              <a:t>uns</a:t>
            </a:r>
            <a:r>
              <a:rPr dirty="0"/>
              <a:t> an </a:t>
            </a:r>
            <a:r>
              <a:rPr dirty="0" err="1"/>
              <a:t>dieser</a:t>
            </a:r>
            <a:r>
              <a:rPr dirty="0"/>
              <a:t> Stelle </a:t>
            </a:r>
            <a:r>
              <a:rPr dirty="0" err="1"/>
              <a:t>herzlich</a:t>
            </a:r>
            <a:r>
              <a:rPr dirty="0"/>
              <a:t> </a:t>
            </a:r>
            <a:r>
              <a:rPr dirty="0" err="1"/>
              <a:t>bedanken</a:t>
            </a:r>
            <a:r>
              <a:rPr dirty="0"/>
              <a:t>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Zeit: ca. 0:30</a:t>
            </a:r>
          </a:p>
          <a:p>
            <a:r>
              <a:t>- Bevor wir einsteigen, ein kurzer Überblick, was euch in den nächsten rund zwanzig Minuten erwartet.</a:t>
            </a:r>
          </a:p>
          <a:p>
            <a:r>
              <a:t>- Wir beginnen mit der Ausgangslage und unserer Forschungsfrage und legen danach die wichtigsten Grundlagen zu KI und Controlling.</a:t>
            </a:r>
          </a:p>
          <a:p>
            <a:r>
              <a:t>- Anschließend kommen wir zum praktischen Teil mit unserer Lösung und drei konkreten Fallbeispielen.</a:t>
            </a:r>
          </a:p>
          <a:p>
            <a:r>
              <a:t>- Zum Schluss zeigen wir, wie wir das Ganze mit Claude umgesetzt haben, und ziehen ein ehrliches Fazit mit Nutzen und Grenzen.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Zeit: ca. 1:15</a:t>
            </a:r>
          </a:p>
          <a:p>
            <a:r>
              <a:t>- Starten wir mit der Frage, warum sich gerade kleine Unternehmen mit datenbasierter Steuerung so schwertun.</a:t>
            </a:r>
          </a:p>
          <a:p>
            <a:r>
              <a:t>- Das größte Problem ist schlicht die Zeit: In kleinen Betrieben macht die Geschäftsführung das Controlling oft nebenbei, und für eine laufende, saubere Auswertung bleibt im Alltag kaum Raum.</a:t>
            </a:r>
          </a:p>
          <a:p>
            <a:r>
              <a:t>- Dazu kommt, dass die Daten verteilt liegen, nämlich in der Finanzbuchhaltung, im ERP, im CRM und in der Personalverwaltung, und niemand führt sie regelmäßig an einer Stelle zusammen.</a:t>
            </a:r>
          </a:p>
          <a:p>
            <a:r>
              <a:t>- Die Folge ist, dass Trends und Abweichungen häufig erst auffallen, wenn sie schon zum echten Problem geworden sind.</a:t>
            </a:r>
          </a:p>
          <a:p>
            <a:r>
              <a:t>- Und die naheliegende Antwort, ein großes BI-Projekt, ist für die meisten zu teuer und zu aufwendig. Es fehlt also ein einfacher, bezahlbarer Einstieg.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Zeit: ca. 0:45</a:t>
            </a:r>
          </a:p>
          <a:p>
            <a:r>
              <a:t>- Aus genau dieser Ausgangslage haben wir unsere Leitfrage abgeleitet.</a:t>
            </a:r>
          </a:p>
          <a:p>
            <a:r>
              <a:t>- Sie lautet: Wie kann ein kleines Unternehmen Künstliche Intelligenz praxisnah und kontrolliert zur datenbasierten Steuerung einsetzen, ohne dafür ein großes IT-Projekt zu starten?</a:t>
            </a:r>
          </a:p>
          <a:p>
            <a:r>
              <a:t>- Unser Ansatz dabei ist bewusst zur Hälfte Theorie und zur Hälfte Praxis, mit drei konkreten Controlling-Fallbeispielen, die wir Schritt für Schritt mit Claude umgesetzt haben.</a:t>
            </a:r>
          </a:p>
          <a:p>
            <a:r>
              <a:t>- Ein Grundsatz zieht sich durch die ganze Arbeit: Die KI liefert eine Empfehlung, aber der Mensch prüft sie und entscheidet am Ende selbst.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Zeit: ca. 1:00</a:t>
            </a:r>
          </a:p>
          <a:p>
            <a:r>
              <a:t>- Damit wir vom Gleichen reden, sortieren wir kurz die wichtigsten Begriffe.</a:t>
            </a:r>
          </a:p>
          <a:p>
            <a:r>
              <a:t>- Künstliche Intelligenz ist der Oberbegriff und meint Systeme, die ihre Umgebung wahrnehmen und so handeln, dass sie ein Ziel möglichst gut erreichen.</a:t>
            </a:r>
          </a:p>
          <a:p>
            <a:r>
              <a:t>- Das maschinelle Lernen ist ein Teilgebiet davon: Statt festen Regeln zu folgen, lernen die Verfahren aus Daten und erkennen darin selbstständig Muster.</a:t>
            </a:r>
          </a:p>
          <a:p>
            <a:r>
              <a:t>- Deep Learning ist schließlich die leistungsfähigste Variante, die mit künstlichen neuronalen Netzen auch sehr komplexe Zusammenhänge abbildet.</a:t>
            </a:r>
          </a:p>
          <a:p>
            <a:r>
              <a:t>- Wichtig ist die Erkenntnis, dass KI keine einheitliche Technik ist, sondern je nach Aufgabe ganz unterschiedliche Verfahren bedeutet.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Zeit: ca. 1:00</a:t>
            </a:r>
          </a:p>
          <a:p>
            <a:r>
              <a:t>- Für unseren Anwendungsfall sind vor allem große Sprachmodelle interessant, die Sprache verarbeiten und auch eigenständig erzeugen können.</a:t>
            </a:r>
          </a:p>
          <a:p>
            <a:r>
              <a:t>- Claude von Anthropic ist ein solches Assistenzsystem, das Aufgaben in mehreren Schritten bearbeiten kann.</a:t>
            </a:r>
          </a:p>
          <a:p>
            <a:r>
              <a:t>- Entscheidend für uns ist aber nicht das Modell selbst, sondern das sogenannte Model Context Protocol.</a:t>
            </a:r>
          </a:p>
          <a:p>
            <a:r>
              <a:t>- Das ist ein offener Standard, über den die KI sicher auf die Dateien, Datenbanken und Werkzeuge eines Unternehmens zugreifen kann.</a:t>
            </a:r>
          </a:p>
          <a:p>
            <a:r>
              <a:t>- Damit wird aus einem reinen Textwerkzeug ein Assistent, der wirklich mit den echten Unternehmensdaten arbeitet.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Zeit: ca. 1:00</a:t>
            </a:r>
          </a:p>
          <a:p>
            <a:r>
              <a:t>- Werfen wir nun einen Blick auf das Controlling, also auf die Funktion, die die Unternehmensführung mit Informationen versorgt.</a:t>
            </a:r>
          </a:p>
          <a:p>
            <a:r>
              <a:t>- Klassisch ist das Controlling eher rückwärtsgewandt: Es wertet abgeschlossene Perioden aus, meldet Abweichungen im Nachhinein und ist mit viel Handarbeit verbunden.</a:t>
            </a:r>
          </a:p>
          <a:p>
            <a:r>
              <a:t>- Mit der Digitalisierung verschiebt sich der Anspruch hin zu einer datengestützten Steuerung, die laufend auswertet und nach vorne schaut.</a:t>
            </a:r>
          </a:p>
          <a:p>
            <a:r>
              <a:t>- Und genau hier setzt unsere Kernidee an: KI kann diese laufende Auswertung übernehmen, ohne dass dafür zusätzliches Personal und viel Zeit gebunden werden.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Zeit: ca. 0:45</a:t>
            </a:r>
          </a:p>
          <a:p>
            <a:r>
              <a:t>- So nützlich KI im Controlling ist, sie ist kein Selbstläufer, und Recht und Verantwortung müssen von Anfang an mitgedacht werden.</a:t>
            </a:r>
          </a:p>
          <a:p>
            <a:r>
              <a:t>- Beim Datenschutz gilt: Personenbezogene oder sensible Daten dürfen nur mit Rechtsgrundlage verarbeitet werden, die DSGVO und die Zweckbindung gelten selbstverständlich auch für KI.</a:t>
            </a:r>
          </a:p>
          <a:p>
            <a:r>
              <a:t>- Beim Thema Transparenz ist uns wichtig, dass jede Empfehlung ihre Quelle, die Datenqualität und das Risiko offenlegt, also keine Blackbox ist.</a:t>
            </a:r>
          </a:p>
          <a:p>
            <a:r>
              <a:t>- Und am Ende entscheidet immer der Mensch, die Verantwortung bleibt im Unternehmen und wird nicht an die KI abgegeben.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Zeit: ca. 0:45</a:t>
            </a:r>
          </a:p>
          <a:p>
            <a:r>
              <a:t>- Kommen wir zu unserer Antwort auf die Forschungsfrage, dem KI-Controlling-Cockpit.</a:t>
            </a:r>
          </a:p>
          <a:p>
            <a:r>
              <a:t>- Das Cockpit führt die relevanten Datenquellen zusammen und berechnet daraus die zentralen Kennzahlen.</a:t>
            </a:r>
          </a:p>
          <a:p>
            <a:r>
              <a:t>- Darüber hinaus erkennt es Trends und Abweichungen, begründet Auffälligkeiten und schlägt konkrete nächste Schritte vor.</a:t>
            </a:r>
          </a:p>
          <a:p>
            <a:r>
              <a:t>- Das Prinzip dahinter ist immer dasselbe: Jede Empfehlung ist nachvollziehbar, und der Mensch gibt sie frei, bevor etwas umgesetzt wird.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Zeit: ca. 0:45</a:t>
            </a:r>
          </a:p>
          <a:p>
            <a:r>
              <a:t>- Wir zeigen das Ganze an drei Fallbeispielen, die aufeinander aufbauen.</a:t>
            </a:r>
          </a:p>
          <a:p>
            <a:r>
              <a:t>- Das erste und wichtigste ist das Controlling-Cockpit selbst, das alles an einer Stelle bündelt.</a:t>
            </a:r>
          </a:p>
          <a:p>
            <a:r>
              <a:t>- Das zweite ist die Budget- und Kostenabweichungsanalyse, die Plan und Ist je Kostenstelle vergleicht.</a:t>
            </a:r>
          </a:p>
          <a:p>
            <a:r>
              <a:t>- Und das dritte ist das Forecasting mit Frühwarnsystem, das Trends fortschreibt und rechtzeitig warnt.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Zeit: ca. 1:30</a:t>
            </a:r>
          </a:p>
          <a:p>
            <a:r>
              <a:t>- Das hier ist unser Cockpit in der Anwendung, und wenn ihr möchtet, zeigen wir es im Anschluss auch kurz live auf der Website.</a:t>
            </a:r>
          </a:p>
          <a:p>
            <a:r>
              <a:t>- Ganz oben seht ihr die Übersicht der wichtigsten Kennzahlen, also Umsatz, Kostenquote, Deckungsbeitrag und Liquidität auf einen Blick.</a:t>
            </a:r>
          </a:p>
          <a:p>
            <a:r>
              <a:t>- Daneben liegt ein Trenddiagramm, das sich je nach gewähltem Szenario verändert.</a:t>
            </a:r>
          </a:p>
          <a:p>
            <a:r>
              <a:t>- Besonders stolz sind wir auf die KI-Findings: Die KI erklärt jede Auffälligkeit, nennt dazu die Datenqualität und das Risiko.</a:t>
            </a:r>
          </a:p>
          <a:p>
            <a:r>
              <a:t>- Ganz unten steht dann die konkrete Handlungsempfehlung, die der Mensch prüfen und freigeben kann.</a:t>
            </a:r>
          </a:p>
          <a:p>
            <a:r>
              <a:t>- Das ist das Herzstück unseres Projekts, deshalb nehmen wir uns hier bewusst etwas mehr Zeit.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Zeit: ca. 1:00</a:t>
            </a:r>
          </a:p>
          <a:p>
            <a:r>
              <a:t>- Eine berechtigte Frage ist natürlich, woher die ganzen Daten eigentlich kommen.</a:t>
            </a:r>
          </a:p>
          <a:p>
            <a:r>
              <a:t>- Über Konnektoren bindet Claude bei uns sechs typische Datenquellen eines kleinen Unternehmens an.</a:t>
            </a:r>
          </a:p>
          <a:p>
            <a:r>
              <a:t>- Das sind das ERP beziehungsweise SAP, die Buchhaltung mit DATEV und lexoffice, das CRM HubSpot, die Bank über die FinTS-Schnittstelle, die Personalverwaltung Personio sowie ergänzende Excel- und CSV-Dateien.</a:t>
            </a:r>
          </a:p>
          <a:p>
            <a:r>
              <a:t>- Wichtig ist, dass jede Quelle einen Datenqualitäts-Wert bekommt, damit transparent bleibt, wie verlässlich die Grundlage einer Aussage ist.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Zeit: ca. 1:00</a:t>
            </a:r>
          </a:p>
          <a:p>
            <a:r>
              <a:t>- Damit man die Steuerung wirklich versteht, zeigt das Cockpit dieselben Kennzahlen in drei verschiedenen Lagen.</a:t>
            </a:r>
          </a:p>
          <a:p>
            <a:r>
              <a:t>- Wir nennen sie stabil, kritisch und Wachstum.</a:t>
            </a:r>
          </a:p>
          <a:p>
            <a:r>
              <a:t>- So wird auf einen Blick sichtbar, wie sich die Zahlen und damit die nötigen Entscheidungen je nach Situation verändern.</a:t>
            </a:r>
          </a:p>
          <a:p>
            <a:r>
              <a:t>- Spannend ist, dass die Kennzahlen dieselben bleiben, aber je nach Szenario zu ganz unterschiedlichen Schlüssen führen.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Zeit: ca. 1:15</a:t>
            </a:r>
          </a:p>
          <a:p>
            <a:r>
              <a:t>- Schauen wir uns an, wie aus den Rohdaten am Ende eine konkrete Empfehlung wird.</a:t>
            </a:r>
          </a:p>
          <a:p>
            <a:r>
              <a:t>- Im ersten Schritt verdichtet die KI die vielen Einzeldaten zu aussagekräftigen Kennzahlen.</a:t>
            </a:r>
          </a:p>
          <a:p>
            <a:r>
              <a:t>- Danach prüft sie die Trends und sucht gezielt nach Abweichungen vom Erwarteten.</a:t>
            </a:r>
          </a:p>
          <a:p>
            <a:r>
              <a:t>- Auf dieser Basis formuliert sie eine begründete Empfehlung, die immer nachvollziehbar dokumentiert ist.</a:t>
            </a:r>
          </a:p>
          <a:p>
            <a:r>
              <a:t>- Und ganz bewusst macht den letzten Schritt der Mensch, der die Empfehlung prüft und freigibt.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Zeit: ca. 1:00</a:t>
            </a:r>
          </a:p>
          <a:p>
            <a:r>
              <a:t>- Kommen wir zum zweiten Fallbeispiel, der Budget- und Kostenabweichungsanalyse.</a:t>
            </a:r>
          </a:p>
          <a:p>
            <a:r>
              <a:t>- Hier vergleicht die KI für jede Kostenstelle den geplanten mit dem tatsächlichen Wert.</a:t>
            </a:r>
          </a:p>
          <a:p>
            <a:r>
              <a:t>- Auffällige Überschreitungen markiert sie deutlich, hier im Diagramm rot hervorgehoben.</a:t>
            </a:r>
          </a:p>
          <a:p>
            <a:r>
              <a:t>- Sie nennt außerdem mögliche Ursachen für die Abweichung und schlägt direkt eine passende Gegenmaßnahme vor.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Zeit: ca. 1:00</a:t>
            </a:r>
          </a:p>
          <a:p>
            <a:r>
              <a:t>- Das dritte Fallbeispiel ist das Forecasting mit einem Frühwarnsystem.</a:t>
            </a:r>
          </a:p>
          <a:p>
            <a:r>
              <a:t>- Dabei schreibt die KI bestehende Trends in die Zukunft fort, in diesem Beispiel die Entwicklung der Liquidität.</a:t>
            </a:r>
          </a:p>
          <a:p>
            <a:r>
              <a:t>- Sobald eine vorher definierte Frühwarnschwelle unterschritten wird, schlägt das System Alarm.</a:t>
            </a:r>
          </a:p>
          <a:p>
            <a:r>
              <a:t>- Der große Vorteil ist, dass dadurch genug Zeit bleibt, um rechtzeitig gegenzusteuern, statt erst im Nachhinein zu reagieren.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Zeit: ca. 1:00</a:t>
            </a:r>
          </a:p>
          <a:p>
            <a:r>
              <a:t>- Ein Punkt, der oft überrascht: Dieses gesamte Cockpit, die Auswertungen und sogar die Dokumentation sind selbst mit Claude entstanden.</a:t>
            </a:r>
          </a:p>
          <a:p>
            <a:r>
              <a:t>- Gesteuert wird Claude dabei über sogenannte Prompts, also klar formulierte Anweisungen.</a:t>
            </a:r>
          </a:p>
          <a:p>
            <a:r>
              <a:t>- Mit Skills lassen sich wiederverwendbare Fähigkeiten ergänzen, etwa um Diagramme, Tabellen oder ganze Dokumente zu erstellen.</a:t>
            </a:r>
          </a:p>
          <a:p>
            <a:r>
              <a:t>- In Cowork arbeitet man geführt mit der KI an Dateien, während Claude Code Aufgaben weitgehend selbstständig umsetzt.</a:t>
            </a:r>
          </a:p>
          <a:p>
            <a:r>
              <a:t>- Und über die Konnektoren erhält die KI Zugriff auf die nötigen Daten und Werkzeuge.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Zeit: ca. 0:45</a:t>
            </a:r>
          </a:p>
          <a:p>
            <a:r>
              <a:t>- Für jedes Fallbeispiel übernimmt Claude die Anbindung der passenden Systeme.</a:t>
            </a:r>
          </a:p>
          <a:p>
            <a:r>
              <a:t>- Im Bereich Finanzen sind das DATEV, lexoffice und die Bank für Kosten, Buchungen und Liquidität.</a:t>
            </a:r>
          </a:p>
          <a:p>
            <a:r>
              <a:t>- Im Bereich ERP und Vertrieb liefern SAP und HubSpot die Aufträge, den Umsatz und die Vertriebspipeline.</a:t>
            </a:r>
          </a:p>
          <a:p>
            <a:r>
              <a:t>- Und im Bereich Personal und Dateien ergänzen Personio sowie Excel- und CSV-Dateien die übrigen Informationen.</a:t>
            </a:r>
          </a:p>
          <a:p>
            <a:r>
              <a:t>- Technisch läuft die Anbindung über das Model Context Protocol, unsere Demo arbeitet dabei mit anonymisierten Beispieldaten.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Zeit: ca. 0:45</a:t>
            </a:r>
          </a:p>
          <a:p>
            <a:r>
              <a:t>- Ganz kurz noch dazu, wie wir methodisch vorgegangen sind.</a:t>
            </a:r>
          </a:p>
          <a:p>
            <a:r>
              <a:t>- Wir haben zuerst recherchiert und die Grundlagen sauber mit Quellen nach der Harvard-Methode belegt.</a:t>
            </a:r>
          </a:p>
          <a:p>
            <a:r>
              <a:t>- Danach haben wir den Prototyp als interaktive Website umgesetzt.</a:t>
            </a:r>
          </a:p>
          <a:p>
            <a:r>
              <a:t>- Im Anschluss entstand die Dokumentation im Verhältnis fünfzig zu fünfzig aus Theorie und Praxis.</a:t>
            </a:r>
          </a:p>
          <a:p>
            <a:r>
              <a:t>- Und durch alle Schritte hindurch galt: Jedes Ergebnis wurde von uns geprüft und gegengecheckt.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Zeit: ca. 0:45</a:t>
            </a:r>
          </a:p>
          <a:p>
            <a:r>
              <a:t>- Zum Abschluss wollen wir Nutzen und Grenzen ehrlich nebeneinanderstellen.</a:t>
            </a:r>
          </a:p>
          <a:p>
            <a:r>
              <a:t>- Der Nutzen ist klar: ein schneller Überblick über verteilte Daten, das frühe Erkennen von Trends und Risiken, nachvollziehbare Begründungen und ein Einstieg ohne großes IT-Projekt.</a:t>
            </a:r>
          </a:p>
          <a:p>
            <a:r>
              <a:t>- Aber es gibt auch Grenzen: Die Qualität hängt stark von den Daten ab, und die KI kann sich irren, weshalb die menschliche Prüfung unverzichtbar bleibt.</a:t>
            </a:r>
          </a:p>
          <a:p>
            <a:r>
              <a:t>- Dazu kommen klare Datenschutzregeln, und am Ende ersetzt die KI kein Fachwissen, sondern unterstützt 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Zeit: ca. 0:45</a:t>
            </a:r>
          </a:p>
          <a:p>
            <a:r>
              <a:t>- Damit kommen wir zum Fazit: KI kann kleinen Unternehmen tatsächlich dabei helfen, sich besser zu steuern, wenn man sie richtig einsetzt.</a:t>
            </a:r>
          </a:p>
          <a:p>
            <a:r>
              <a:t>- Unsere Empfehlung lautet, klein zu starten, klare Kennzahlen zu wählen und den Datenschutz von Anfang an mitzudenken.</a:t>
            </a:r>
          </a:p>
          <a:p>
            <a:r>
              <a:t>- Die Verantwortung sollte dabei immer beim Menschen bleiben.</a:t>
            </a:r>
          </a:p>
          <a:p>
            <a:r>
              <a:t>- Und der Ausblick ist, die Demo künftig durch echte Schnittstellen zu den Systemen zu ersetzen.</a:t>
            </a:r>
          </a:p>
          <a:p>
            <a:r>
              <a:t>- Vielen Dank für eure Aufmerksamkeit, wir freuen uns jetzt auf eure Fragen.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6/13/2026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6/13/2026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6/13/2026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6/13/2026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4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5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6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7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4480560" cy="6858000"/>
          </a:xfrm>
          <a:prstGeom prst="rect">
            <a:avLst/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566928"/>
            <a:ext cx="36576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</a:pPr>
            <a:r>
              <a:rPr sz="1200" b="1" i="0">
                <a:solidFill>
                  <a:srgbClr val="E11D48"/>
                </a:solidFill>
                <a:latin typeface="Arial"/>
              </a:rPr>
              <a:t>HOCHSCHULE PFORZHEIM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841248"/>
            <a:ext cx="36576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</a:pPr>
            <a:r>
              <a:rPr sz="1050" b="0" i="0">
                <a:solidFill>
                  <a:srgbClr val="94A3B8"/>
                </a:solidFill>
                <a:latin typeface="Arial"/>
              </a:rPr>
              <a:t>Fakultät für Technik · Wirtschaftsingenieurwesen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5486400"/>
            <a:ext cx="36576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</a:pPr>
            <a:r>
              <a:rPr sz="1200" b="1" i="0">
                <a:solidFill>
                  <a:srgbClr val="FFFFFF"/>
                </a:solidFill>
                <a:latin typeface="Arial"/>
              </a:rPr>
              <a:t>Sommersemester 2026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5806440"/>
            <a:ext cx="36576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</a:pPr>
            <a:r>
              <a:rPr sz="1050" b="0" i="0">
                <a:solidFill>
                  <a:srgbClr val="94A3B8"/>
                </a:solidFill>
                <a:latin typeface="Arial"/>
              </a:rPr>
              <a:t>Interdisziplinäres Projekt (IDP)</a:t>
            </a:r>
          </a:p>
        </p:txBody>
      </p:sp>
      <p:pic>
        <p:nvPicPr>
          <p:cNvPr id="7" name="Picture 6" descr="hspf-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591495" y="310896"/>
            <a:ext cx="1051560" cy="47907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4983480" y="457200"/>
            <a:ext cx="59436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</a:pPr>
            <a:r>
              <a:rPr sz="1100" b="1" i="0">
                <a:solidFill>
                  <a:srgbClr val="E11D48"/>
                </a:solidFill>
                <a:latin typeface="Arial"/>
              </a:rPr>
              <a:t>IDP · KARA-COCKPIT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937760" y="1828800"/>
            <a:ext cx="6949440" cy="16459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2000"/>
              </a:lnSpc>
              <a:spcBef>
                <a:spcPts val="0"/>
              </a:spcBef>
            </a:pPr>
            <a:r>
              <a:rPr sz="3400" b="1" i="0">
                <a:solidFill>
                  <a:srgbClr val="0F172A"/>
                </a:solidFill>
                <a:latin typeface="Arial"/>
              </a:rPr>
              <a:t>Künstliche Intelligenz</a:t>
            </a:r>
          </a:p>
          <a:p>
            <a:pPr algn="l">
              <a:lnSpc>
                <a:spcPct val="102000"/>
              </a:lnSpc>
              <a:spcBef>
                <a:spcPts val="0"/>
              </a:spcBef>
            </a:pPr>
            <a:r>
              <a:rPr sz="3400" b="1" i="0">
                <a:solidFill>
                  <a:srgbClr val="0F172A"/>
                </a:solidFill>
                <a:latin typeface="Arial"/>
              </a:rPr>
              <a:t>für kleine Unternehmen</a:t>
            </a:r>
          </a:p>
        </p:txBody>
      </p:sp>
      <p:sp>
        <p:nvSpPr>
          <p:cNvPr id="10" name="Rectangle 9"/>
          <p:cNvSpPr/>
          <p:nvPr/>
        </p:nvSpPr>
        <p:spPr>
          <a:xfrm>
            <a:off x="4983480" y="3246120"/>
            <a:ext cx="640080" cy="38100"/>
          </a:xfrm>
          <a:prstGeom prst="rect">
            <a:avLst/>
          </a:prstGeom>
          <a:solidFill>
            <a:srgbClr val="E11D4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4956048" y="3429000"/>
            <a:ext cx="6858000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</a:pPr>
            <a:r>
              <a:rPr sz="1500" b="0" i="0">
                <a:solidFill>
                  <a:srgbClr val="475569"/>
                </a:solidFill>
                <a:latin typeface="Arial"/>
              </a:rPr>
              <a:t>Umsetzung am Beispiel eines KI-Controlling-Cockpits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983480" y="5257800"/>
            <a:ext cx="64008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</a:pPr>
            <a:r>
              <a:rPr sz="1000" b="1" i="0">
                <a:solidFill>
                  <a:srgbClr val="94A3B8"/>
                </a:solidFill>
                <a:latin typeface="Arial"/>
              </a:rPr>
              <a:t>VORGELEGT VON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983480" y="5532120"/>
            <a:ext cx="640080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</a:pPr>
            <a:r>
              <a:rPr sz="1500" b="1" i="0">
                <a:solidFill>
                  <a:srgbClr val="0F172A"/>
                </a:solidFill>
                <a:latin typeface="Arial"/>
              </a:rPr>
              <a:t>Abdulhamid Karatas   ·   Kadir Atar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983480" y="5897880"/>
            <a:ext cx="64008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</a:pPr>
            <a:r>
              <a:rPr sz="1100" b="0" i="0">
                <a:solidFill>
                  <a:srgbClr val="475569"/>
                </a:solidFill>
                <a:latin typeface="Arial"/>
              </a:rPr>
              <a:t>Betreuung: Prof. Dr. Bettina C. K. Binder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hspf-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591495" y="310896"/>
            <a:ext cx="1051560" cy="47907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548640" y="384048"/>
            <a:ext cx="73152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</a:pPr>
            <a:r>
              <a:rPr sz="1100" b="1" i="0">
                <a:solidFill>
                  <a:srgbClr val="E11D48"/>
                </a:solidFill>
                <a:latin typeface="Arial"/>
              </a:rPr>
              <a:t>ÜBERBLICK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713232"/>
            <a:ext cx="502920" cy="38100"/>
          </a:xfrm>
          <a:prstGeom prst="rect">
            <a:avLst/>
          </a:prstGeom>
          <a:solidFill>
            <a:srgbClr val="E11D4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548640" y="749808"/>
            <a:ext cx="10515600" cy="7315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</a:pPr>
            <a:r>
              <a:rPr sz="3000" b="1" i="0">
                <a:solidFill>
                  <a:srgbClr val="0F172A"/>
                </a:solidFill>
                <a:latin typeface="Arial"/>
              </a:rPr>
              <a:t>Agenda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1481328"/>
            <a:ext cx="10881360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</a:pPr>
            <a:r>
              <a:rPr sz="1400" b="0" i="0">
                <a:solidFill>
                  <a:srgbClr val="475569"/>
                </a:solidFill>
                <a:latin typeface="Arial"/>
              </a:rPr>
              <a:t>Was euch in den nächsten rund 20 Minuten erwartet.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2286000"/>
            <a:ext cx="731520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</a:pPr>
            <a:r>
              <a:rPr sz="2000" b="1" i="0">
                <a:solidFill>
                  <a:srgbClr val="E11D48"/>
                </a:solidFill>
                <a:latin typeface="Arial"/>
              </a:rPr>
              <a:t>01</a:t>
            </a:r>
          </a:p>
        </p:txBody>
      </p:sp>
      <p:sp>
        <p:nvSpPr>
          <p:cNvPr id="8" name="Rectangle 7"/>
          <p:cNvSpPr/>
          <p:nvPr/>
        </p:nvSpPr>
        <p:spPr>
          <a:xfrm>
            <a:off x="640080" y="2852928"/>
            <a:ext cx="4937760" cy="127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1463040" y="2331720"/>
            <a:ext cx="4572000" cy="54864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spcBef>
                <a:spcPts val="0"/>
              </a:spcBef>
            </a:pPr>
            <a:r>
              <a:rPr sz="1500" b="1" i="0">
                <a:solidFill>
                  <a:srgbClr val="0F172A"/>
                </a:solidFill>
                <a:latin typeface="Arial"/>
              </a:rPr>
              <a:t>Ausgangslage &amp; Forschungsfrage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3127248"/>
            <a:ext cx="731520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</a:pPr>
            <a:r>
              <a:rPr sz="2000" b="1" i="0">
                <a:solidFill>
                  <a:srgbClr val="E11D48"/>
                </a:solidFill>
                <a:latin typeface="Arial"/>
              </a:rPr>
              <a:t>02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40080" y="3694176"/>
            <a:ext cx="4937760" cy="127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1463040" y="3172968"/>
            <a:ext cx="4572000" cy="54864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spcBef>
                <a:spcPts val="0"/>
              </a:spcBef>
            </a:pPr>
            <a:r>
              <a:rPr sz="1500" b="1" i="0">
                <a:solidFill>
                  <a:srgbClr val="0F172A"/>
                </a:solidFill>
                <a:latin typeface="Arial"/>
              </a:rPr>
              <a:t>Grundlagen: KI und Controlling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080" y="3968496"/>
            <a:ext cx="731520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</a:pPr>
            <a:r>
              <a:rPr sz="2000" b="1" i="0">
                <a:solidFill>
                  <a:srgbClr val="E11D48"/>
                </a:solidFill>
                <a:latin typeface="Arial"/>
              </a:rPr>
              <a:t>03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40080" y="4535424"/>
            <a:ext cx="4937760" cy="127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1463040" y="4014216"/>
            <a:ext cx="4572000" cy="54864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spcBef>
                <a:spcPts val="0"/>
              </a:spcBef>
            </a:pPr>
            <a:r>
              <a:rPr sz="1500" b="1" i="0">
                <a:solidFill>
                  <a:srgbClr val="0F172A"/>
                </a:solidFill>
                <a:latin typeface="Arial"/>
              </a:rPr>
              <a:t>Recht, Datenschutz &amp; Ethik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0080" y="4809744"/>
            <a:ext cx="731520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</a:pPr>
            <a:r>
              <a:rPr sz="2000" b="1" i="0">
                <a:solidFill>
                  <a:srgbClr val="E11D48"/>
                </a:solidFill>
                <a:latin typeface="Arial"/>
              </a:rPr>
              <a:t>04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40080" y="5376672"/>
            <a:ext cx="4937760" cy="127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1463040" y="4855464"/>
            <a:ext cx="4572000" cy="54864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spcBef>
                <a:spcPts val="0"/>
              </a:spcBef>
            </a:pPr>
            <a:r>
              <a:rPr sz="1500" b="1" i="0">
                <a:solidFill>
                  <a:srgbClr val="0F172A"/>
                </a:solidFill>
                <a:latin typeface="Arial"/>
              </a:rPr>
              <a:t>Lösung: das KI-Controlling-Cockpit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309360" y="2286000"/>
            <a:ext cx="731520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</a:pPr>
            <a:r>
              <a:rPr sz="2000" b="1" i="0">
                <a:solidFill>
                  <a:srgbClr val="E11D48"/>
                </a:solidFill>
                <a:latin typeface="Arial"/>
              </a:rPr>
              <a:t>05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309360" y="2852928"/>
            <a:ext cx="4937760" cy="127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7132320" y="2331720"/>
            <a:ext cx="4572000" cy="54864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spcBef>
                <a:spcPts val="0"/>
              </a:spcBef>
            </a:pPr>
            <a:r>
              <a:rPr sz="1500" b="1" i="0">
                <a:solidFill>
                  <a:srgbClr val="0F172A"/>
                </a:solidFill>
                <a:latin typeface="Arial"/>
              </a:rPr>
              <a:t>Drei Fallbeispiele aus der Praxis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309360" y="3127248"/>
            <a:ext cx="731520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</a:pPr>
            <a:r>
              <a:rPr sz="2000" b="1" i="0">
                <a:solidFill>
                  <a:srgbClr val="E11D48"/>
                </a:solidFill>
                <a:latin typeface="Arial"/>
              </a:rPr>
              <a:t>06</a:t>
            </a:r>
          </a:p>
        </p:txBody>
      </p:sp>
      <p:sp>
        <p:nvSpPr>
          <p:cNvPr id="23" name="Rectangle 22"/>
          <p:cNvSpPr/>
          <p:nvPr/>
        </p:nvSpPr>
        <p:spPr>
          <a:xfrm>
            <a:off x="6309360" y="3694176"/>
            <a:ext cx="4937760" cy="127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7132320" y="3172968"/>
            <a:ext cx="4572000" cy="54864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spcBef>
                <a:spcPts val="0"/>
              </a:spcBef>
            </a:pPr>
            <a:r>
              <a:rPr sz="1500" b="1" i="0">
                <a:solidFill>
                  <a:srgbClr val="0F172A"/>
                </a:solidFill>
                <a:latin typeface="Arial"/>
              </a:rPr>
              <a:t>Umsetzung mit Claude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309360" y="3968496"/>
            <a:ext cx="731520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</a:pPr>
            <a:r>
              <a:rPr sz="2000" b="1" i="0">
                <a:solidFill>
                  <a:srgbClr val="E11D48"/>
                </a:solidFill>
                <a:latin typeface="Arial"/>
              </a:rPr>
              <a:t>07</a:t>
            </a:r>
          </a:p>
        </p:txBody>
      </p:sp>
      <p:sp>
        <p:nvSpPr>
          <p:cNvPr id="26" name="Rectangle 25"/>
          <p:cNvSpPr/>
          <p:nvPr/>
        </p:nvSpPr>
        <p:spPr>
          <a:xfrm>
            <a:off x="6309360" y="4535424"/>
            <a:ext cx="4937760" cy="127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7132320" y="4014216"/>
            <a:ext cx="4572000" cy="54864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spcBef>
                <a:spcPts val="0"/>
              </a:spcBef>
            </a:pPr>
            <a:r>
              <a:rPr sz="1500" b="1" i="0">
                <a:solidFill>
                  <a:srgbClr val="0F172A"/>
                </a:solidFill>
                <a:latin typeface="Arial"/>
              </a:rPr>
              <a:t>Nutzen, Grenzen &amp; Fazit</a:t>
            </a:r>
          </a:p>
        </p:txBody>
      </p:sp>
      <p:sp>
        <p:nvSpPr>
          <p:cNvPr id="28" name="Rectangle 27"/>
          <p:cNvSpPr/>
          <p:nvPr/>
        </p:nvSpPr>
        <p:spPr>
          <a:xfrm>
            <a:off x="548640" y="6355080"/>
            <a:ext cx="11094415" cy="127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548640" y="6409944"/>
            <a:ext cx="82296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</a:pPr>
            <a:r>
              <a:rPr sz="900" b="1" i="0">
                <a:solidFill>
                  <a:srgbClr val="0F172A"/>
                </a:solidFill>
                <a:latin typeface="Arial"/>
              </a:rPr>
              <a:t>IDP · Kara-Cockpit</a:t>
            </a:r>
            <a:r>
              <a:rPr sz="900" b="0" i="0">
                <a:solidFill>
                  <a:srgbClr val="94A3B8"/>
                </a:solidFill>
                <a:latin typeface="Arial"/>
              </a:rPr>
              <a:t>   /   Abdulhamid Karatas · Kadir Atar · HS Pforzheim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0911535" y="6409944"/>
            <a:ext cx="73152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spcBef>
                <a:spcPts val="0"/>
              </a:spcBef>
            </a:pPr>
            <a:r>
              <a:rPr sz="900" b="0" i="0">
                <a:solidFill>
                  <a:srgbClr val="94A3B8"/>
                </a:solidFill>
                <a:latin typeface="Arial"/>
              </a:rPr>
              <a:t>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hspf-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591495" y="310896"/>
            <a:ext cx="1051560" cy="47907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548640" y="384048"/>
            <a:ext cx="73152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</a:pPr>
            <a:r>
              <a:rPr sz="1100" b="1" i="0">
                <a:solidFill>
                  <a:srgbClr val="E11D48"/>
                </a:solidFill>
                <a:latin typeface="Arial"/>
              </a:rPr>
              <a:t>01 – AUSGANGSLAGE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713232"/>
            <a:ext cx="502920" cy="38100"/>
          </a:xfrm>
          <a:prstGeom prst="rect">
            <a:avLst/>
          </a:prstGeom>
          <a:solidFill>
            <a:srgbClr val="E11D4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548640" y="749808"/>
            <a:ext cx="10515600" cy="7315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</a:pPr>
            <a:r>
              <a:rPr sz="3000" b="1" i="0">
                <a:solidFill>
                  <a:srgbClr val="0F172A"/>
                </a:solidFill>
                <a:latin typeface="Arial"/>
              </a:rPr>
              <a:t>Warum tun sich kleine Unternehmen schwer?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1481328"/>
            <a:ext cx="10881360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</a:pPr>
            <a:r>
              <a:rPr sz="1400" b="0" i="0">
                <a:solidFill>
                  <a:srgbClr val="475569"/>
                </a:solidFill>
                <a:latin typeface="Arial"/>
              </a:rPr>
              <a:t>Kleine Unternehmen wollen datenbasiert steuern, doch im Alltag fehlen Zeit, Personal und der Überblick über verteilte Zahlen.</a:t>
            </a:r>
          </a:p>
        </p:txBody>
      </p:sp>
      <p:sp>
        <p:nvSpPr>
          <p:cNvPr id="7" name="Rectangle 6"/>
          <p:cNvSpPr/>
          <p:nvPr/>
        </p:nvSpPr>
        <p:spPr>
          <a:xfrm>
            <a:off x="566928" y="2331720"/>
            <a:ext cx="502920" cy="31750"/>
          </a:xfrm>
          <a:prstGeom prst="rect">
            <a:avLst/>
          </a:prstGeom>
          <a:solidFill>
            <a:srgbClr val="E11D4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566928" y="2441448"/>
            <a:ext cx="2558719" cy="5029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</a:pPr>
            <a:r>
              <a:rPr sz="2600" b="1" i="0">
                <a:solidFill>
                  <a:srgbClr val="E11D48"/>
                </a:solidFill>
                <a:latin typeface="Arial"/>
              </a:rPr>
              <a:t>01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66928" y="2953512"/>
            <a:ext cx="2558719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</a:pPr>
            <a:r>
              <a:rPr sz="1400" b="1" i="0">
                <a:solidFill>
                  <a:srgbClr val="0F172A"/>
                </a:solidFill>
                <a:latin typeface="Arial"/>
              </a:rPr>
              <a:t>Wenig Zeit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66928" y="3355848"/>
            <a:ext cx="2558719" cy="8229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</a:pPr>
            <a:r>
              <a:rPr sz="1150" b="0" i="0">
                <a:solidFill>
                  <a:srgbClr val="475569"/>
                </a:solidFill>
                <a:latin typeface="Arial"/>
              </a:rPr>
              <a:t>Die Geschäftsführung erledigt Steuerung nebenbei. Für eine laufende, manuelle Auswertung bleibt kaum Raum.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399967" y="2331720"/>
            <a:ext cx="502920" cy="31750"/>
          </a:xfrm>
          <a:prstGeom prst="rect">
            <a:avLst/>
          </a:prstGeom>
          <a:solidFill>
            <a:srgbClr val="E11D4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3399967" y="2441448"/>
            <a:ext cx="2558719" cy="5029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</a:pPr>
            <a:r>
              <a:rPr sz="2600" b="1" i="0">
                <a:solidFill>
                  <a:srgbClr val="E11D48"/>
                </a:solidFill>
                <a:latin typeface="Arial"/>
              </a:rPr>
              <a:t>02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399967" y="2953512"/>
            <a:ext cx="2558719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</a:pPr>
            <a:r>
              <a:rPr sz="1400" b="1" i="0">
                <a:solidFill>
                  <a:srgbClr val="0F172A"/>
                </a:solidFill>
                <a:latin typeface="Arial"/>
              </a:rPr>
              <a:t>Verteilte Daten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399967" y="3355848"/>
            <a:ext cx="2558719" cy="8229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</a:pPr>
            <a:r>
              <a:rPr sz="1150" b="0" i="0">
                <a:solidFill>
                  <a:srgbClr val="475569"/>
                </a:solidFill>
                <a:latin typeface="Arial"/>
              </a:rPr>
              <a:t>Zahlen liegen in Finanzbuchhaltung, ERP, CRM und HR. Niemand führt sie regelmäßig zusammen.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233006" y="2331720"/>
            <a:ext cx="502920" cy="31750"/>
          </a:xfrm>
          <a:prstGeom prst="rect">
            <a:avLst/>
          </a:prstGeom>
          <a:solidFill>
            <a:srgbClr val="E11D4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6233006" y="2441448"/>
            <a:ext cx="2558719" cy="5029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</a:pPr>
            <a:r>
              <a:rPr sz="2600" b="1" i="0">
                <a:solidFill>
                  <a:srgbClr val="E11D48"/>
                </a:solidFill>
                <a:latin typeface="Arial"/>
              </a:rPr>
              <a:t>03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233006" y="2953512"/>
            <a:ext cx="2558719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</a:pPr>
            <a:r>
              <a:rPr sz="1400" b="1" i="0">
                <a:solidFill>
                  <a:srgbClr val="0F172A"/>
                </a:solidFill>
                <a:latin typeface="Arial"/>
              </a:rPr>
              <a:t>Kein Überblick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233006" y="3355848"/>
            <a:ext cx="2558719" cy="8229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</a:pPr>
            <a:r>
              <a:rPr sz="1150" b="0" i="0">
                <a:solidFill>
                  <a:srgbClr val="475569"/>
                </a:solidFill>
                <a:latin typeface="Arial"/>
              </a:rPr>
              <a:t>Trends und Abweichungen fallen oft erst auf, wenn sie zum Problem geworden sind.</a:t>
            </a:r>
          </a:p>
        </p:txBody>
      </p:sp>
      <p:sp>
        <p:nvSpPr>
          <p:cNvPr id="19" name="Rectangle 18"/>
          <p:cNvSpPr/>
          <p:nvPr/>
        </p:nvSpPr>
        <p:spPr>
          <a:xfrm>
            <a:off x="9066045" y="2331720"/>
            <a:ext cx="502920" cy="31750"/>
          </a:xfrm>
          <a:prstGeom prst="rect">
            <a:avLst/>
          </a:prstGeom>
          <a:solidFill>
            <a:srgbClr val="E11D4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9066045" y="2441448"/>
            <a:ext cx="2558719" cy="5029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</a:pPr>
            <a:r>
              <a:rPr sz="2600" b="1" i="0">
                <a:solidFill>
                  <a:srgbClr val="E11D48"/>
                </a:solidFill>
                <a:latin typeface="Arial"/>
              </a:rPr>
              <a:t>04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066045" y="2953512"/>
            <a:ext cx="2558719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</a:pPr>
            <a:r>
              <a:rPr sz="1400" b="1" i="0">
                <a:solidFill>
                  <a:srgbClr val="0F172A"/>
                </a:solidFill>
                <a:latin typeface="Arial"/>
              </a:rPr>
              <a:t>Knappes Budget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066045" y="3355848"/>
            <a:ext cx="2558719" cy="8229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</a:pPr>
            <a:r>
              <a:rPr sz="1150" b="0" i="0">
                <a:solidFill>
                  <a:srgbClr val="475569"/>
                </a:solidFill>
                <a:latin typeface="Arial"/>
              </a:rPr>
              <a:t>Große BI-Projekte sind zu teuer. Es fehlt ein einfacher, bezahlbarer Einstieg.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66928" y="5897880"/>
            <a:ext cx="105156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</a:pPr>
            <a:r>
              <a:rPr sz="950" b="0" i="1">
                <a:solidFill>
                  <a:srgbClr val="94A3B8"/>
                </a:solidFill>
                <a:latin typeface="Arial"/>
              </a:rPr>
              <a:t>Vgl. Weber &amp; Schäffer (2022): Controlling als Funktion der rationalen Unternehmensführung.</a:t>
            </a:r>
          </a:p>
        </p:txBody>
      </p:sp>
      <p:sp>
        <p:nvSpPr>
          <p:cNvPr id="24" name="Rectangle 23"/>
          <p:cNvSpPr/>
          <p:nvPr/>
        </p:nvSpPr>
        <p:spPr>
          <a:xfrm>
            <a:off x="548640" y="6355080"/>
            <a:ext cx="11094415" cy="127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548640" y="6409944"/>
            <a:ext cx="82296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</a:pPr>
            <a:r>
              <a:rPr sz="900" b="1" i="0">
                <a:solidFill>
                  <a:srgbClr val="0F172A"/>
                </a:solidFill>
                <a:latin typeface="Arial"/>
              </a:rPr>
              <a:t>IDP · Kara-Cockpit</a:t>
            </a:r>
            <a:r>
              <a:rPr sz="900" b="0" i="0">
                <a:solidFill>
                  <a:srgbClr val="94A3B8"/>
                </a:solidFill>
                <a:latin typeface="Arial"/>
              </a:rPr>
              <a:t>   /   Abdulhamid Karatas · Kadir Atar · HS Pforzheim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0911535" y="6409944"/>
            <a:ext cx="73152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spcBef>
                <a:spcPts val="0"/>
              </a:spcBef>
            </a:pPr>
            <a:r>
              <a:rPr sz="900" b="0" i="0">
                <a:solidFill>
                  <a:srgbClr val="94A3B8"/>
                </a:solidFill>
                <a:latin typeface="Arial"/>
              </a:rPr>
              <a:t>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hspf-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591495" y="310896"/>
            <a:ext cx="1051560" cy="47907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548640" y="384048"/>
            <a:ext cx="73152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</a:pPr>
            <a:r>
              <a:rPr sz="1100" b="1" i="0">
                <a:solidFill>
                  <a:srgbClr val="E11D48"/>
                </a:solidFill>
                <a:latin typeface="Arial"/>
              </a:rPr>
              <a:t>01 – ZIELSETZUNG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713232"/>
            <a:ext cx="502920" cy="38100"/>
          </a:xfrm>
          <a:prstGeom prst="rect">
            <a:avLst/>
          </a:prstGeom>
          <a:solidFill>
            <a:srgbClr val="E11D4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548640" y="749808"/>
            <a:ext cx="10515600" cy="7315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</a:pPr>
            <a:r>
              <a:rPr sz="3000" b="1" i="0">
                <a:solidFill>
                  <a:srgbClr val="0F172A"/>
                </a:solidFill>
                <a:latin typeface="Arial"/>
              </a:rPr>
              <a:t>Unsere Forschungsfrage</a:t>
            </a:r>
          </a:p>
        </p:txBody>
      </p:sp>
      <p:sp>
        <p:nvSpPr>
          <p:cNvPr id="6" name="Rectangle 5"/>
          <p:cNvSpPr/>
          <p:nvPr/>
        </p:nvSpPr>
        <p:spPr>
          <a:xfrm>
            <a:off x="566928" y="2194560"/>
            <a:ext cx="6949440" cy="2468880"/>
          </a:xfrm>
          <a:prstGeom prst="rect">
            <a:avLst/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566928" y="2194560"/>
            <a:ext cx="6949440" cy="38100"/>
          </a:xfrm>
          <a:prstGeom prst="rect">
            <a:avLst/>
          </a:prstGeom>
          <a:solidFill>
            <a:srgbClr val="E11D4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768096" y="2340864"/>
            <a:ext cx="6547104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</a:pPr>
            <a:r>
              <a:rPr sz="1000" b="1" i="0">
                <a:solidFill>
                  <a:srgbClr val="E11D48"/>
                </a:solidFill>
                <a:latin typeface="Arial"/>
              </a:rPr>
              <a:t>LEITFRAGE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68096" y="2651760"/>
            <a:ext cx="6547104" cy="19202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</a:pPr>
            <a:r>
              <a:rPr sz="1250" b="0" i="0">
                <a:solidFill>
                  <a:srgbClr val="0F172A"/>
                </a:solidFill>
                <a:latin typeface="Arial"/>
              </a:rPr>
              <a:t>Wie kann ein kleines Unternehmen Künstliche Intelligenz praxisnah und kontrolliert zur datenbasierten Steuerung einsetzen, ohne ein großes IT-Projekt zu starten?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818120" y="2286000"/>
            <a:ext cx="3749039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</a:pPr>
            <a:r>
              <a:rPr sz="1000" b="1" i="0">
                <a:solidFill>
                  <a:srgbClr val="E11D48"/>
                </a:solidFill>
                <a:latin typeface="Arial"/>
              </a:rPr>
              <a:t>UNSER ANSATZ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818120" y="2697480"/>
            <a:ext cx="3749039" cy="20116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50000"/>
              </a:lnSpc>
              <a:spcBef>
                <a:spcPts val="0"/>
              </a:spcBef>
            </a:pPr>
            <a:r>
              <a:rPr sz="1250" b="0" i="0">
                <a:solidFill>
                  <a:srgbClr val="475569"/>
                </a:solidFill>
                <a:latin typeface="Arial"/>
              </a:rPr>
              <a:t>•  Theorie und Praxis im Verhältnis 50/50</a:t>
            </a:r>
          </a:p>
          <a:p>
            <a:pPr algn="l">
              <a:lnSpc>
                <a:spcPct val="150000"/>
              </a:lnSpc>
              <a:spcBef>
                <a:spcPts val="0"/>
              </a:spcBef>
            </a:pPr>
            <a:r>
              <a:rPr sz="1250" b="0" i="0">
                <a:solidFill>
                  <a:srgbClr val="475569"/>
                </a:solidFill>
                <a:latin typeface="Arial"/>
              </a:rPr>
              <a:t>•  Drei konkrete Controlling-Fallbeispiele</a:t>
            </a:r>
          </a:p>
          <a:p>
            <a:pPr algn="l">
              <a:lnSpc>
                <a:spcPct val="150000"/>
              </a:lnSpc>
              <a:spcBef>
                <a:spcPts val="0"/>
              </a:spcBef>
            </a:pPr>
            <a:r>
              <a:rPr sz="1250" b="0" i="0">
                <a:solidFill>
                  <a:srgbClr val="475569"/>
                </a:solidFill>
                <a:latin typeface="Arial"/>
              </a:rPr>
              <a:t>•  Umsetzung Schritt für Schritt mit Claude</a:t>
            </a:r>
          </a:p>
          <a:p>
            <a:pPr algn="l">
              <a:lnSpc>
                <a:spcPct val="150000"/>
              </a:lnSpc>
              <a:spcBef>
                <a:spcPts val="0"/>
              </a:spcBef>
            </a:pPr>
            <a:r>
              <a:rPr sz="1250" b="0" i="0">
                <a:solidFill>
                  <a:srgbClr val="475569"/>
                </a:solidFill>
                <a:latin typeface="Arial"/>
              </a:rPr>
              <a:t>•  Mensch prüft und entscheidet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48640" y="6355080"/>
            <a:ext cx="11094415" cy="127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548640" y="6409944"/>
            <a:ext cx="82296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</a:pPr>
            <a:r>
              <a:rPr sz="900" b="1" i="0">
                <a:solidFill>
                  <a:srgbClr val="0F172A"/>
                </a:solidFill>
                <a:latin typeface="Arial"/>
              </a:rPr>
              <a:t>IDP · Kara-Cockpit</a:t>
            </a:r>
            <a:r>
              <a:rPr sz="900" b="0" i="0">
                <a:solidFill>
                  <a:srgbClr val="94A3B8"/>
                </a:solidFill>
                <a:latin typeface="Arial"/>
              </a:rPr>
              <a:t>   /   Abdulhamid Karatas · Kadir Atar · HS Pforzheim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911535" y="6409944"/>
            <a:ext cx="73152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spcBef>
                <a:spcPts val="0"/>
              </a:spcBef>
            </a:pPr>
            <a:r>
              <a:rPr sz="900" b="0" i="0">
                <a:solidFill>
                  <a:srgbClr val="94A3B8"/>
                </a:solidFill>
                <a:latin typeface="Arial"/>
              </a:rPr>
              <a:t>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hspf-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591495" y="310896"/>
            <a:ext cx="1051560" cy="47907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548640" y="384048"/>
            <a:ext cx="73152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</a:pPr>
            <a:r>
              <a:rPr sz="1100" b="1" i="0">
                <a:solidFill>
                  <a:srgbClr val="E11D48"/>
                </a:solidFill>
                <a:latin typeface="Arial"/>
              </a:rPr>
              <a:t>02 – GRUNDLAGEN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713232"/>
            <a:ext cx="502920" cy="38100"/>
          </a:xfrm>
          <a:prstGeom prst="rect">
            <a:avLst/>
          </a:prstGeom>
          <a:solidFill>
            <a:srgbClr val="E11D4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548640" y="749808"/>
            <a:ext cx="10515600" cy="7315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</a:pPr>
            <a:r>
              <a:rPr sz="3000" b="1" i="0">
                <a:solidFill>
                  <a:srgbClr val="0F172A"/>
                </a:solidFill>
                <a:latin typeface="Arial"/>
              </a:rPr>
              <a:t>Künstliche Intelligenz, ML und Deep Learning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1481328"/>
            <a:ext cx="10881360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</a:pPr>
            <a:r>
              <a:rPr sz="1400" b="0" i="0">
                <a:solidFill>
                  <a:srgbClr val="475569"/>
                </a:solidFill>
                <a:latin typeface="Arial"/>
              </a:rPr>
              <a:t>Die Begriffe verschachteln sich ineinander: KI als Oberbegriff, maschinelles Lernen als datengetriebener Ansatz, Deep Learning als dessen stärkste Variante.</a:t>
            </a:r>
          </a:p>
        </p:txBody>
      </p:sp>
      <p:sp>
        <p:nvSpPr>
          <p:cNvPr id="7" name="Rectangle 6"/>
          <p:cNvSpPr/>
          <p:nvPr/>
        </p:nvSpPr>
        <p:spPr>
          <a:xfrm>
            <a:off x="566928" y="2331720"/>
            <a:ext cx="502920" cy="31750"/>
          </a:xfrm>
          <a:prstGeom prst="rect">
            <a:avLst/>
          </a:prstGeom>
          <a:solidFill>
            <a:srgbClr val="E11D4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566928" y="2441448"/>
            <a:ext cx="3503066" cy="5029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</a:pPr>
            <a:r>
              <a:rPr sz="2600" b="1" i="0">
                <a:solidFill>
                  <a:srgbClr val="E11D48"/>
                </a:solidFill>
                <a:latin typeface="Arial"/>
              </a:rPr>
              <a:t>01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66928" y="2953512"/>
            <a:ext cx="3503066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</a:pPr>
            <a:r>
              <a:rPr sz="1400" b="1" i="0">
                <a:solidFill>
                  <a:srgbClr val="0F172A"/>
                </a:solidFill>
                <a:latin typeface="Arial"/>
              </a:rPr>
              <a:t>Künstliche Intelligenz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66928" y="3355848"/>
            <a:ext cx="3503066" cy="8229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</a:pPr>
            <a:r>
              <a:rPr sz="1150" b="0" i="0">
                <a:solidFill>
                  <a:srgbClr val="475569"/>
                </a:solidFill>
                <a:latin typeface="Arial"/>
              </a:rPr>
              <a:t>Systeme, die ihre Umgebung wahrnehmen und so handeln, dass sie ihre Ziele möglichst gut erreichen.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344314" y="2331720"/>
            <a:ext cx="502920" cy="31750"/>
          </a:xfrm>
          <a:prstGeom prst="rect">
            <a:avLst/>
          </a:prstGeom>
          <a:solidFill>
            <a:srgbClr val="E11D4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4344314" y="2441448"/>
            <a:ext cx="3503066" cy="5029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</a:pPr>
            <a:r>
              <a:rPr sz="2600" b="1" i="0">
                <a:solidFill>
                  <a:srgbClr val="E11D48"/>
                </a:solidFill>
                <a:latin typeface="Arial"/>
              </a:rPr>
              <a:t>02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344314" y="2953512"/>
            <a:ext cx="3503066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</a:pPr>
            <a:r>
              <a:rPr sz="1400" b="1" i="0">
                <a:solidFill>
                  <a:srgbClr val="0F172A"/>
                </a:solidFill>
                <a:latin typeface="Arial"/>
              </a:rPr>
              <a:t>Maschinelles Lernen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344314" y="3355848"/>
            <a:ext cx="3503066" cy="8229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</a:pPr>
            <a:r>
              <a:rPr sz="1150" b="0" i="0">
                <a:solidFill>
                  <a:srgbClr val="475569"/>
                </a:solidFill>
                <a:latin typeface="Arial"/>
              </a:rPr>
              <a:t>Algorithmen lernen aus Daten, erkennen Muster und leiten Vorhersagen ab, statt festen Regeln zu folgen.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121700" y="2331720"/>
            <a:ext cx="502920" cy="31750"/>
          </a:xfrm>
          <a:prstGeom prst="rect">
            <a:avLst/>
          </a:prstGeom>
          <a:solidFill>
            <a:srgbClr val="E11D4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8121700" y="2441448"/>
            <a:ext cx="3503066" cy="5029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</a:pPr>
            <a:r>
              <a:rPr sz="2600" b="1" i="0">
                <a:solidFill>
                  <a:srgbClr val="E11D48"/>
                </a:solidFill>
                <a:latin typeface="Arial"/>
              </a:rPr>
              <a:t>03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121700" y="2953512"/>
            <a:ext cx="3503066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</a:pPr>
            <a:r>
              <a:rPr sz="1400" b="1" i="0">
                <a:solidFill>
                  <a:srgbClr val="0F172A"/>
                </a:solidFill>
                <a:latin typeface="Arial"/>
              </a:rPr>
              <a:t>Deep Learning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121700" y="3355848"/>
            <a:ext cx="3503066" cy="8229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</a:pPr>
            <a:r>
              <a:rPr sz="1150" b="0" i="0">
                <a:solidFill>
                  <a:srgbClr val="475569"/>
                </a:solidFill>
                <a:latin typeface="Arial"/>
              </a:rPr>
              <a:t>Künstliche neuronale Netze mit vielen Schichten bilden sehr komplexe Zusammenhänge in großen Datenmengen ab.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66928" y="5897880"/>
            <a:ext cx="105156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</a:pPr>
            <a:r>
              <a:rPr sz="950" b="0" i="1">
                <a:solidFill>
                  <a:srgbClr val="94A3B8"/>
                </a:solidFill>
                <a:latin typeface="Arial"/>
              </a:rPr>
              <a:t>Vgl. Russell &amp; Norvig (2021); Goodfellow et al. (2016).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48640" y="6355080"/>
            <a:ext cx="11094415" cy="127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548640" y="6409944"/>
            <a:ext cx="82296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</a:pPr>
            <a:r>
              <a:rPr sz="900" b="1" i="0">
                <a:solidFill>
                  <a:srgbClr val="0F172A"/>
                </a:solidFill>
                <a:latin typeface="Arial"/>
              </a:rPr>
              <a:t>IDP · Kara-Cockpit</a:t>
            </a:r>
            <a:r>
              <a:rPr sz="900" b="0" i="0">
                <a:solidFill>
                  <a:srgbClr val="94A3B8"/>
                </a:solidFill>
                <a:latin typeface="Arial"/>
              </a:rPr>
              <a:t>   /   Abdulhamid Karatas · Kadir Atar · HS Pforzheim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911535" y="6409944"/>
            <a:ext cx="73152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spcBef>
                <a:spcPts val="0"/>
              </a:spcBef>
            </a:pPr>
            <a:r>
              <a:rPr sz="900" b="0" i="0">
                <a:solidFill>
                  <a:srgbClr val="94A3B8"/>
                </a:solidFill>
                <a:latin typeface="Arial"/>
              </a:rPr>
              <a:t>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hspf-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591495" y="310896"/>
            <a:ext cx="1051560" cy="47907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548640" y="384048"/>
            <a:ext cx="73152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</a:pPr>
            <a:r>
              <a:rPr sz="1100" b="1" i="0">
                <a:solidFill>
                  <a:srgbClr val="E11D48"/>
                </a:solidFill>
                <a:latin typeface="Arial"/>
              </a:rPr>
              <a:t>02 – GRUNDLAGEN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713232"/>
            <a:ext cx="502920" cy="38100"/>
          </a:xfrm>
          <a:prstGeom prst="rect">
            <a:avLst/>
          </a:prstGeom>
          <a:solidFill>
            <a:srgbClr val="E11D4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548640" y="749808"/>
            <a:ext cx="10515600" cy="7315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</a:pPr>
            <a:r>
              <a:rPr sz="3000" b="1" i="0">
                <a:solidFill>
                  <a:srgbClr val="0F172A"/>
                </a:solidFill>
                <a:latin typeface="Arial"/>
              </a:rPr>
              <a:t>Generative KI, Sprachmodelle und Claude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1481328"/>
            <a:ext cx="10881360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</a:pPr>
            <a:r>
              <a:rPr sz="1400" b="0" i="0">
                <a:solidFill>
                  <a:srgbClr val="475569"/>
                </a:solidFill>
                <a:latin typeface="Arial"/>
              </a:rPr>
              <a:t>Große Sprachmodelle verarbeiten und erzeugen Sprache. Über einen offenen Standard lassen sie sich mit den Daten eines Unternehmens verbinden.</a:t>
            </a:r>
          </a:p>
        </p:txBody>
      </p:sp>
      <p:sp>
        <p:nvSpPr>
          <p:cNvPr id="7" name="Rectangle 6"/>
          <p:cNvSpPr/>
          <p:nvPr/>
        </p:nvSpPr>
        <p:spPr>
          <a:xfrm>
            <a:off x="566928" y="2331720"/>
            <a:ext cx="502920" cy="31750"/>
          </a:xfrm>
          <a:prstGeom prst="rect">
            <a:avLst/>
          </a:prstGeom>
          <a:solidFill>
            <a:srgbClr val="E11D4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566928" y="2441448"/>
            <a:ext cx="3503066" cy="5029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</a:pPr>
            <a:r>
              <a:rPr sz="2600" b="1" i="0">
                <a:solidFill>
                  <a:srgbClr val="E11D48"/>
                </a:solidFill>
                <a:latin typeface="Arial"/>
              </a:rPr>
              <a:t>01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66928" y="2953512"/>
            <a:ext cx="3503066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</a:pPr>
            <a:r>
              <a:rPr sz="1400" b="1" i="0">
                <a:solidFill>
                  <a:srgbClr val="0F172A"/>
                </a:solidFill>
                <a:latin typeface="Arial"/>
              </a:rPr>
              <a:t>Große Sprachmodelle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66928" y="3355848"/>
            <a:ext cx="3503066" cy="8229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</a:pPr>
            <a:r>
              <a:rPr sz="1150" b="0" i="0">
                <a:solidFill>
                  <a:srgbClr val="475569"/>
                </a:solidFill>
                <a:latin typeface="Arial"/>
              </a:rPr>
              <a:t>Mit riesigen Textmengen trainiert; die Transformer-Architektur verarbeitet auch lange Zusammenhänge effizient.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344314" y="2331720"/>
            <a:ext cx="502920" cy="31750"/>
          </a:xfrm>
          <a:prstGeom prst="rect">
            <a:avLst/>
          </a:prstGeom>
          <a:solidFill>
            <a:srgbClr val="E11D4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4344314" y="2441448"/>
            <a:ext cx="3503066" cy="5029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</a:pPr>
            <a:r>
              <a:rPr sz="2600" b="1" i="0">
                <a:solidFill>
                  <a:srgbClr val="E11D48"/>
                </a:solidFill>
                <a:latin typeface="Arial"/>
              </a:rPr>
              <a:t>02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344314" y="2953512"/>
            <a:ext cx="3503066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</a:pPr>
            <a:r>
              <a:rPr sz="1400" b="1" i="0">
                <a:solidFill>
                  <a:srgbClr val="0F172A"/>
                </a:solidFill>
                <a:latin typeface="Arial"/>
              </a:rPr>
              <a:t>Claude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344314" y="3355848"/>
            <a:ext cx="3503066" cy="8229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</a:pPr>
            <a:r>
              <a:rPr sz="1150" b="0" i="0">
                <a:solidFill>
                  <a:srgbClr val="475569"/>
                </a:solidFill>
                <a:latin typeface="Arial"/>
              </a:rPr>
              <a:t>Assistenzsystem von Anthropic auf Basis großer Sprachmodelle, das Aufgaben mehrstufig bearbeitet.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121700" y="2331720"/>
            <a:ext cx="502920" cy="31750"/>
          </a:xfrm>
          <a:prstGeom prst="rect">
            <a:avLst/>
          </a:prstGeom>
          <a:solidFill>
            <a:srgbClr val="E11D4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8121700" y="2441448"/>
            <a:ext cx="3503066" cy="5029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</a:pPr>
            <a:r>
              <a:rPr sz="2600" b="1" i="0">
                <a:solidFill>
                  <a:srgbClr val="E11D48"/>
                </a:solidFill>
                <a:latin typeface="Arial"/>
              </a:rPr>
              <a:t>03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121700" y="2953512"/>
            <a:ext cx="3503066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</a:pPr>
            <a:r>
              <a:rPr sz="1400" b="1" i="0">
                <a:solidFill>
                  <a:srgbClr val="0F172A"/>
                </a:solidFill>
                <a:latin typeface="Arial"/>
              </a:rPr>
              <a:t>Model Context Protocol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121700" y="3355848"/>
            <a:ext cx="3503066" cy="8229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</a:pPr>
            <a:r>
              <a:rPr sz="1150" b="0" i="0">
                <a:solidFill>
                  <a:srgbClr val="475569"/>
                </a:solidFill>
                <a:latin typeface="Arial"/>
              </a:rPr>
              <a:t>Offener Standard für sichere Verbindungen zu Dateien, Datenbanken und Werkzeugen. Aus Text wird Datenzugriff.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66928" y="5897880"/>
            <a:ext cx="105156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</a:pPr>
            <a:r>
              <a:rPr sz="950" b="0" i="1">
                <a:solidFill>
                  <a:srgbClr val="94A3B8"/>
                </a:solidFill>
                <a:latin typeface="Arial"/>
              </a:rPr>
              <a:t>Vgl. Vaswani et al. (2017); Brown et al. (2020); Anthropic (2024).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48640" y="6355080"/>
            <a:ext cx="11094415" cy="127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548640" y="6409944"/>
            <a:ext cx="82296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</a:pPr>
            <a:r>
              <a:rPr sz="900" b="1" i="0">
                <a:solidFill>
                  <a:srgbClr val="0F172A"/>
                </a:solidFill>
                <a:latin typeface="Arial"/>
              </a:rPr>
              <a:t>IDP · Kara-Cockpit</a:t>
            </a:r>
            <a:r>
              <a:rPr sz="900" b="0" i="0">
                <a:solidFill>
                  <a:srgbClr val="94A3B8"/>
                </a:solidFill>
                <a:latin typeface="Arial"/>
              </a:rPr>
              <a:t>   /   Abdulhamid Karatas · Kadir Atar · HS Pforzheim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911535" y="6409944"/>
            <a:ext cx="73152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spcBef>
                <a:spcPts val="0"/>
              </a:spcBef>
            </a:pPr>
            <a:r>
              <a:rPr sz="900" b="0" i="0">
                <a:solidFill>
                  <a:srgbClr val="94A3B8"/>
                </a:solidFill>
                <a:latin typeface="Arial"/>
              </a:rPr>
              <a:t>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hspf-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591495" y="310896"/>
            <a:ext cx="1051560" cy="47907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548640" y="384048"/>
            <a:ext cx="73152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</a:pPr>
            <a:r>
              <a:rPr sz="1100" b="1" i="0">
                <a:solidFill>
                  <a:srgbClr val="E11D48"/>
                </a:solidFill>
                <a:latin typeface="Arial"/>
              </a:rPr>
              <a:t>02 – CONTROLLING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713232"/>
            <a:ext cx="502920" cy="38100"/>
          </a:xfrm>
          <a:prstGeom prst="rect">
            <a:avLst/>
          </a:prstGeom>
          <a:solidFill>
            <a:srgbClr val="E11D4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548640" y="749808"/>
            <a:ext cx="10515600" cy="7315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</a:pPr>
            <a:r>
              <a:rPr sz="3000" b="1" i="0">
                <a:solidFill>
                  <a:srgbClr val="0F172A"/>
                </a:solidFill>
                <a:latin typeface="Arial"/>
              </a:rPr>
              <a:t>Vom Rückblick zur vorausschauenden Steuerung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1481328"/>
            <a:ext cx="10881360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</a:pPr>
            <a:r>
              <a:rPr sz="1400" b="0" i="0">
                <a:solidFill>
                  <a:srgbClr val="475569"/>
                </a:solidFill>
                <a:latin typeface="Arial"/>
              </a:rPr>
              <a:t>Controlling sichert die Rationalität der Führung und versorgt sie mit Informationen. Der Anspruch verschiebt sich vom Rückblick zur Vorausschau.</a:t>
            </a:r>
          </a:p>
        </p:txBody>
      </p:sp>
      <p:sp>
        <p:nvSpPr>
          <p:cNvPr id="7" name="Rectangle 6"/>
          <p:cNvSpPr/>
          <p:nvPr/>
        </p:nvSpPr>
        <p:spPr>
          <a:xfrm>
            <a:off x="566928" y="2331720"/>
            <a:ext cx="3383280" cy="2148840"/>
          </a:xfrm>
          <a:prstGeom prst="rect">
            <a:avLst/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566928" y="2331720"/>
            <a:ext cx="3383280" cy="38100"/>
          </a:xfrm>
          <a:prstGeom prst="rect">
            <a:avLst/>
          </a:prstGeom>
          <a:solidFill>
            <a:srgbClr val="94A3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768096" y="2496312"/>
            <a:ext cx="301752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</a:pPr>
            <a:r>
              <a:rPr sz="1100" b="1" i="0">
                <a:solidFill>
                  <a:srgbClr val="475569"/>
                </a:solidFill>
                <a:latin typeface="Arial"/>
              </a:rPr>
              <a:t>KLASSISCH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68096" y="2898648"/>
            <a:ext cx="3017520" cy="1508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40000"/>
              </a:lnSpc>
              <a:spcBef>
                <a:spcPts val="0"/>
              </a:spcBef>
            </a:pPr>
            <a:r>
              <a:rPr sz="1200" b="0" i="0">
                <a:solidFill>
                  <a:srgbClr val="475569"/>
                </a:solidFill>
                <a:latin typeface="Arial"/>
              </a:rPr>
              <a:t>•  wertet abgeschlossene Perioden aus</a:t>
            </a:r>
          </a:p>
          <a:p>
            <a:pPr algn="l">
              <a:lnSpc>
                <a:spcPct val="140000"/>
              </a:lnSpc>
              <a:spcBef>
                <a:spcPts val="0"/>
              </a:spcBef>
            </a:pPr>
            <a:r>
              <a:rPr sz="1200" b="0" i="0">
                <a:solidFill>
                  <a:srgbClr val="475569"/>
                </a:solidFill>
                <a:latin typeface="Arial"/>
              </a:rPr>
              <a:t>•  meldet Abweichungen im Nachhinein</a:t>
            </a:r>
          </a:p>
          <a:p>
            <a:pPr algn="l">
              <a:lnSpc>
                <a:spcPct val="140000"/>
              </a:lnSpc>
              <a:spcBef>
                <a:spcPts val="0"/>
              </a:spcBef>
            </a:pPr>
            <a:r>
              <a:rPr sz="1200" b="0" i="0">
                <a:solidFill>
                  <a:srgbClr val="475569"/>
                </a:solidFill>
                <a:latin typeface="Arial"/>
              </a:rPr>
              <a:t>•  viel manuelle Arbeit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160520" y="2331720"/>
            <a:ext cx="3383280" cy="2148840"/>
          </a:xfrm>
          <a:prstGeom prst="rect">
            <a:avLst/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4160520" y="2331720"/>
            <a:ext cx="3383280" cy="38100"/>
          </a:xfrm>
          <a:prstGeom prst="rect">
            <a:avLst/>
          </a:prstGeom>
          <a:solidFill>
            <a:srgbClr val="E11D4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4361688" y="2496312"/>
            <a:ext cx="301752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</a:pPr>
            <a:r>
              <a:rPr sz="1100" b="1" i="0">
                <a:solidFill>
                  <a:srgbClr val="E11D48"/>
                </a:solidFill>
                <a:latin typeface="Arial"/>
              </a:rPr>
              <a:t>DATENGESTÜTZT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361688" y="2898648"/>
            <a:ext cx="3017520" cy="1508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40000"/>
              </a:lnSpc>
              <a:spcBef>
                <a:spcPts val="0"/>
              </a:spcBef>
            </a:pPr>
            <a:r>
              <a:rPr sz="1200" b="0" i="0">
                <a:solidFill>
                  <a:srgbClr val="0F172A"/>
                </a:solidFill>
                <a:latin typeface="Arial"/>
              </a:rPr>
              <a:t>•  wertet laufend und schneller aus</a:t>
            </a:r>
          </a:p>
          <a:p>
            <a:pPr algn="l">
              <a:lnSpc>
                <a:spcPct val="140000"/>
              </a:lnSpc>
              <a:spcBef>
                <a:spcPts val="0"/>
              </a:spcBef>
            </a:pPr>
            <a:r>
              <a:rPr sz="1200" b="0" i="0">
                <a:solidFill>
                  <a:srgbClr val="0F172A"/>
                </a:solidFill>
                <a:latin typeface="Arial"/>
              </a:rPr>
              <a:t>•  erkennt Muster und Abweichungen früh</a:t>
            </a:r>
          </a:p>
          <a:p>
            <a:pPr algn="l">
              <a:lnSpc>
                <a:spcPct val="140000"/>
              </a:lnSpc>
              <a:spcBef>
                <a:spcPts val="0"/>
              </a:spcBef>
            </a:pPr>
            <a:r>
              <a:rPr sz="1200" b="0" i="0">
                <a:solidFill>
                  <a:srgbClr val="0F172A"/>
                </a:solidFill>
                <a:latin typeface="Arial"/>
              </a:rPr>
              <a:t>•  bereitet Entscheidungen vor</a:t>
            </a:r>
          </a:p>
        </p:txBody>
      </p:sp>
      <p:sp>
        <p:nvSpPr>
          <p:cNvPr id="15" name="Rectangle 14"/>
          <p:cNvSpPr/>
          <p:nvPr/>
        </p:nvSpPr>
        <p:spPr>
          <a:xfrm>
            <a:off x="7818120" y="2331720"/>
            <a:ext cx="3749039" cy="2148840"/>
          </a:xfrm>
          <a:prstGeom prst="rect">
            <a:avLst/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ectangle 15"/>
          <p:cNvSpPr/>
          <p:nvPr/>
        </p:nvSpPr>
        <p:spPr>
          <a:xfrm>
            <a:off x="7818120" y="2331720"/>
            <a:ext cx="3749039" cy="38100"/>
          </a:xfrm>
          <a:prstGeom prst="rect">
            <a:avLst/>
          </a:prstGeom>
          <a:solidFill>
            <a:srgbClr val="E11D4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8019288" y="2478024"/>
            <a:ext cx="3346703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</a:pPr>
            <a:r>
              <a:rPr sz="1000" b="1" i="0">
                <a:solidFill>
                  <a:srgbClr val="E11D48"/>
                </a:solidFill>
                <a:latin typeface="Arial"/>
              </a:rPr>
              <a:t>KERNIDEE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019288" y="2788920"/>
            <a:ext cx="3346703" cy="1600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</a:pPr>
            <a:r>
              <a:rPr sz="1250" b="0" i="0">
                <a:solidFill>
                  <a:srgbClr val="0F172A"/>
                </a:solidFill>
                <a:latin typeface="Arial"/>
              </a:rPr>
              <a:t>Genau hier setzt KI an: Liegen viele Daten vor, hilft sie auszuwerten, ohne Personal und Zeit zu binden.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48640" y="6355080"/>
            <a:ext cx="11094415" cy="127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548640" y="6409944"/>
            <a:ext cx="82296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</a:pPr>
            <a:r>
              <a:rPr sz="900" b="1" i="0">
                <a:solidFill>
                  <a:srgbClr val="0F172A"/>
                </a:solidFill>
                <a:latin typeface="Arial"/>
              </a:rPr>
              <a:t>IDP · Kara-Cockpit</a:t>
            </a:r>
            <a:r>
              <a:rPr sz="900" b="0" i="0">
                <a:solidFill>
                  <a:srgbClr val="94A3B8"/>
                </a:solidFill>
                <a:latin typeface="Arial"/>
              </a:rPr>
              <a:t>   /   Abdulhamid Karatas · Kadir Atar · HS Pforzheim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911535" y="6409944"/>
            <a:ext cx="73152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spcBef>
                <a:spcPts val="0"/>
              </a:spcBef>
            </a:pPr>
            <a:r>
              <a:rPr sz="900" b="0" i="0">
                <a:solidFill>
                  <a:srgbClr val="94A3B8"/>
                </a:solidFill>
                <a:latin typeface="Arial"/>
              </a:rPr>
              <a:t>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hspf-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591495" y="310896"/>
            <a:ext cx="1051560" cy="47907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548640" y="384048"/>
            <a:ext cx="73152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</a:pPr>
            <a:r>
              <a:rPr sz="1100" b="1" i="0">
                <a:solidFill>
                  <a:srgbClr val="E11D48"/>
                </a:solidFill>
                <a:latin typeface="Arial"/>
              </a:rPr>
              <a:t>03 – RECHT &amp; ETHIK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713232"/>
            <a:ext cx="502920" cy="38100"/>
          </a:xfrm>
          <a:prstGeom prst="rect">
            <a:avLst/>
          </a:prstGeom>
          <a:solidFill>
            <a:srgbClr val="E11D4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548640" y="749808"/>
            <a:ext cx="10515600" cy="7315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</a:pPr>
            <a:r>
              <a:rPr sz="3000" b="1" i="0">
                <a:solidFill>
                  <a:srgbClr val="0F172A"/>
                </a:solidFill>
                <a:latin typeface="Arial"/>
              </a:rPr>
              <a:t>Datenschutz und Verantwortung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1481328"/>
            <a:ext cx="10881360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</a:pPr>
            <a:r>
              <a:rPr sz="1400" b="0" i="0">
                <a:solidFill>
                  <a:srgbClr val="475569"/>
                </a:solidFill>
                <a:latin typeface="Arial"/>
              </a:rPr>
              <a:t>KI im Controlling ist kein Selbstläufer. Recht, Datenqualität und klare Verantwortung müssen von Anfang an mitgedacht werden.</a:t>
            </a:r>
          </a:p>
        </p:txBody>
      </p:sp>
      <p:sp>
        <p:nvSpPr>
          <p:cNvPr id="7" name="Rectangle 6"/>
          <p:cNvSpPr/>
          <p:nvPr/>
        </p:nvSpPr>
        <p:spPr>
          <a:xfrm>
            <a:off x="566928" y="2331720"/>
            <a:ext cx="502920" cy="31750"/>
          </a:xfrm>
          <a:prstGeom prst="rect">
            <a:avLst/>
          </a:prstGeom>
          <a:solidFill>
            <a:srgbClr val="E11D4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566928" y="2441448"/>
            <a:ext cx="3503066" cy="5029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</a:pPr>
            <a:r>
              <a:rPr sz="2600" b="1" i="0">
                <a:solidFill>
                  <a:srgbClr val="E11D48"/>
                </a:solidFill>
                <a:latin typeface="Arial"/>
              </a:rPr>
              <a:t>01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66928" y="2953512"/>
            <a:ext cx="3503066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</a:pPr>
            <a:r>
              <a:rPr sz="1400" b="1" i="0">
                <a:solidFill>
                  <a:srgbClr val="0F172A"/>
                </a:solidFill>
                <a:latin typeface="Arial"/>
              </a:rPr>
              <a:t>Datenschutz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66928" y="3355848"/>
            <a:ext cx="3503066" cy="8229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</a:pPr>
            <a:r>
              <a:rPr sz="1150" b="0" i="0">
                <a:solidFill>
                  <a:srgbClr val="475569"/>
                </a:solidFill>
                <a:latin typeface="Arial"/>
              </a:rPr>
              <a:t>Keine personenbezogenen oder sensiblen Daten ohne Rechtsgrundlage. DSGVO und Zweckbindung gelten auch für KI.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344314" y="2331720"/>
            <a:ext cx="502920" cy="31750"/>
          </a:xfrm>
          <a:prstGeom prst="rect">
            <a:avLst/>
          </a:prstGeom>
          <a:solidFill>
            <a:srgbClr val="E11D4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4344314" y="2441448"/>
            <a:ext cx="3503066" cy="5029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</a:pPr>
            <a:r>
              <a:rPr sz="2600" b="1" i="0">
                <a:solidFill>
                  <a:srgbClr val="E11D48"/>
                </a:solidFill>
                <a:latin typeface="Arial"/>
              </a:rPr>
              <a:t>02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344314" y="2953512"/>
            <a:ext cx="3503066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</a:pPr>
            <a:r>
              <a:rPr sz="1400" b="1" i="0">
                <a:solidFill>
                  <a:srgbClr val="0F172A"/>
                </a:solidFill>
                <a:latin typeface="Arial"/>
              </a:rPr>
              <a:t>Transparenz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344314" y="3355848"/>
            <a:ext cx="3503066" cy="8229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</a:pPr>
            <a:r>
              <a:rPr sz="1150" b="0" i="0">
                <a:solidFill>
                  <a:srgbClr val="475569"/>
                </a:solidFill>
                <a:latin typeface="Arial"/>
              </a:rPr>
              <a:t>Jede Empfehlung zeigt Quelle, Datenqualität und Risiko. Keine Blackbox, sondern nachvollziehbare Begründung.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121700" y="2331720"/>
            <a:ext cx="502920" cy="31750"/>
          </a:xfrm>
          <a:prstGeom prst="rect">
            <a:avLst/>
          </a:prstGeom>
          <a:solidFill>
            <a:srgbClr val="E11D4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8121700" y="2441448"/>
            <a:ext cx="3503066" cy="5029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</a:pPr>
            <a:r>
              <a:rPr sz="2600" b="1" i="0">
                <a:solidFill>
                  <a:srgbClr val="E11D48"/>
                </a:solidFill>
                <a:latin typeface="Arial"/>
              </a:rPr>
              <a:t>03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121700" y="2953512"/>
            <a:ext cx="3503066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</a:pPr>
            <a:r>
              <a:rPr sz="1400" b="1" i="0">
                <a:solidFill>
                  <a:srgbClr val="0F172A"/>
                </a:solidFill>
                <a:latin typeface="Arial"/>
              </a:rPr>
              <a:t>Mensch entscheidet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121700" y="3355848"/>
            <a:ext cx="3503066" cy="8229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</a:pPr>
            <a:r>
              <a:rPr sz="1150" b="0" i="0">
                <a:solidFill>
                  <a:srgbClr val="475569"/>
                </a:solidFill>
                <a:latin typeface="Arial"/>
              </a:rPr>
              <a:t>KI liefert eine Empfehlung, die finale Entscheidung trifft der Mensch. Verantwortung bleibt im Unternehmen.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48640" y="6355080"/>
            <a:ext cx="11094415" cy="127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548640" y="6409944"/>
            <a:ext cx="82296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</a:pPr>
            <a:r>
              <a:rPr sz="900" b="1" i="0">
                <a:solidFill>
                  <a:srgbClr val="0F172A"/>
                </a:solidFill>
                <a:latin typeface="Arial"/>
              </a:rPr>
              <a:t>IDP · Kara-Cockpit</a:t>
            </a:r>
            <a:r>
              <a:rPr sz="900" b="0" i="0">
                <a:solidFill>
                  <a:srgbClr val="94A3B8"/>
                </a:solidFill>
                <a:latin typeface="Arial"/>
              </a:rPr>
              <a:t>   /   Abdulhamid Karatas · Kadir Atar · HS Pforzheim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911535" y="6409944"/>
            <a:ext cx="73152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spcBef>
                <a:spcPts val="0"/>
              </a:spcBef>
            </a:pPr>
            <a:r>
              <a:rPr sz="900" b="0" i="0">
                <a:solidFill>
                  <a:srgbClr val="94A3B8"/>
                </a:solidFill>
                <a:latin typeface="Arial"/>
              </a:rPr>
              <a:t>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hspf-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591495" y="310896"/>
            <a:ext cx="1051560" cy="47907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548640" y="384048"/>
            <a:ext cx="73152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</a:pPr>
            <a:r>
              <a:rPr sz="1100" b="1" i="0">
                <a:solidFill>
                  <a:srgbClr val="E11D48"/>
                </a:solidFill>
                <a:latin typeface="Arial"/>
              </a:rPr>
              <a:t>04 – LÖSUNG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713232"/>
            <a:ext cx="502920" cy="38100"/>
          </a:xfrm>
          <a:prstGeom prst="rect">
            <a:avLst/>
          </a:prstGeom>
          <a:solidFill>
            <a:srgbClr val="E11D4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548640" y="749808"/>
            <a:ext cx="10515600" cy="7315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</a:pPr>
            <a:r>
              <a:rPr sz="3000" b="1" i="0">
                <a:solidFill>
                  <a:srgbClr val="0F172A"/>
                </a:solidFill>
                <a:latin typeface="Arial"/>
              </a:rPr>
              <a:t>Unsere Antwort: das KI-Controlling-Cockpit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1481328"/>
            <a:ext cx="10881360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</a:pPr>
            <a:r>
              <a:rPr sz="1400" b="0" i="0">
                <a:solidFill>
                  <a:srgbClr val="475569"/>
                </a:solidFill>
                <a:latin typeface="Arial"/>
              </a:rPr>
              <a:t>Ein Cockpit führt die relevanten Datenquellen zusammen, berechnet Kennzahlen, erklärt Auffälligkeiten und schlägt nächste Schritte vor.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2286000"/>
            <a:ext cx="6949440" cy="23774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55000"/>
              </a:lnSpc>
              <a:spcBef>
                <a:spcPts val="0"/>
              </a:spcBef>
            </a:pPr>
            <a:r>
              <a:rPr sz="1350" b="0" i="0">
                <a:solidFill>
                  <a:srgbClr val="475569"/>
                </a:solidFill>
                <a:latin typeface="Arial"/>
              </a:rPr>
              <a:t>•  Analyse aller relevanten Unternehmensdatenbanken</a:t>
            </a:r>
          </a:p>
          <a:p>
            <a:pPr algn="l">
              <a:lnSpc>
                <a:spcPct val="155000"/>
              </a:lnSpc>
              <a:spcBef>
                <a:spcPts val="0"/>
              </a:spcBef>
            </a:pPr>
            <a:r>
              <a:rPr sz="1350" b="0" i="0">
                <a:solidFill>
                  <a:srgbClr val="475569"/>
                </a:solidFill>
                <a:latin typeface="Arial"/>
              </a:rPr>
              <a:t>•  Berechnung zentraler Kennzahlen</a:t>
            </a:r>
          </a:p>
          <a:p>
            <a:pPr algn="l">
              <a:lnSpc>
                <a:spcPct val="155000"/>
              </a:lnSpc>
              <a:spcBef>
                <a:spcPts val="0"/>
              </a:spcBef>
            </a:pPr>
            <a:r>
              <a:rPr sz="1350" b="0" i="0">
                <a:solidFill>
                  <a:srgbClr val="475569"/>
                </a:solidFill>
                <a:latin typeface="Arial"/>
              </a:rPr>
              <a:t>•  Trend- und Abweichungserkennung</a:t>
            </a:r>
          </a:p>
          <a:p>
            <a:pPr algn="l">
              <a:lnSpc>
                <a:spcPct val="155000"/>
              </a:lnSpc>
              <a:spcBef>
                <a:spcPts val="0"/>
              </a:spcBef>
            </a:pPr>
            <a:r>
              <a:rPr sz="1350" b="0" i="0">
                <a:solidFill>
                  <a:srgbClr val="475569"/>
                </a:solidFill>
                <a:latin typeface="Arial"/>
              </a:rPr>
              <a:t>•  Begründung mit Datenqualität und Risiko</a:t>
            </a:r>
          </a:p>
          <a:p>
            <a:pPr algn="l">
              <a:lnSpc>
                <a:spcPct val="155000"/>
              </a:lnSpc>
              <a:spcBef>
                <a:spcPts val="0"/>
              </a:spcBef>
            </a:pPr>
            <a:r>
              <a:rPr sz="1350" b="0" i="0">
                <a:solidFill>
                  <a:srgbClr val="475569"/>
                </a:solidFill>
                <a:latin typeface="Arial"/>
              </a:rPr>
              <a:t>•  konkrete Handlungsempfehlung</a:t>
            </a:r>
          </a:p>
        </p:txBody>
      </p:sp>
      <p:sp>
        <p:nvSpPr>
          <p:cNvPr id="8" name="Rectangle 7"/>
          <p:cNvSpPr/>
          <p:nvPr/>
        </p:nvSpPr>
        <p:spPr>
          <a:xfrm>
            <a:off x="7818120" y="2286000"/>
            <a:ext cx="3749039" cy="2377440"/>
          </a:xfrm>
          <a:prstGeom prst="rect">
            <a:avLst/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7818120" y="2286000"/>
            <a:ext cx="3749039" cy="38100"/>
          </a:xfrm>
          <a:prstGeom prst="rect">
            <a:avLst/>
          </a:prstGeom>
          <a:solidFill>
            <a:srgbClr val="E11D4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8019288" y="2432304"/>
            <a:ext cx="3346703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</a:pPr>
            <a:r>
              <a:rPr sz="1000" b="1" i="0">
                <a:solidFill>
                  <a:srgbClr val="E11D48"/>
                </a:solidFill>
                <a:latin typeface="Arial"/>
              </a:rPr>
              <a:t>PRINZIP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019288" y="2743200"/>
            <a:ext cx="3346703" cy="18288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</a:pPr>
            <a:r>
              <a:rPr sz="1250" b="0" i="0">
                <a:solidFill>
                  <a:srgbClr val="0F172A"/>
                </a:solidFill>
                <a:latin typeface="Arial"/>
              </a:rPr>
              <a:t>Jede Empfehlung ist nachvollziehbar. Der Mensch prüft und gibt frei, bevor etwas umgesetzt wird.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48640" y="6355080"/>
            <a:ext cx="11094415" cy="127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548640" y="6409944"/>
            <a:ext cx="82296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</a:pPr>
            <a:r>
              <a:rPr sz="900" b="1" i="0">
                <a:solidFill>
                  <a:srgbClr val="0F172A"/>
                </a:solidFill>
                <a:latin typeface="Arial"/>
              </a:rPr>
              <a:t>IDP · Kara-Cockpit</a:t>
            </a:r>
            <a:r>
              <a:rPr sz="900" b="0" i="0">
                <a:solidFill>
                  <a:srgbClr val="94A3B8"/>
                </a:solidFill>
                <a:latin typeface="Arial"/>
              </a:rPr>
              <a:t>   /   Abdulhamid Karatas · Kadir Atar · HS Pforzheim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911535" y="6409944"/>
            <a:ext cx="73152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spcBef>
                <a:spcPts val="0"/>
              </a:spcBef>
            </a:pPr>
            <a:r>
              <a:rPr sz="900" b="0" i="0">
                <a:solidFill>
                  <a:srgbClr val="94A3B8"/>
                </a:solidFill>
                <a:latin typeface="Arial"/>
              </a:rPr>
              <a:t>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hspf-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591495" y="310896"/>
            <a:ext cx="1051560" cy="47907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548640" y="384048"/>
            <a:ext cx="73152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</a:pPr>
            <a:r>
              <a:rPr sz="1100" b="1" i="0">
                <a:solidFill>
                  <a:srgbClr val="E11D48"/>
                </a:solidFill>
                <a:latin typeface="Arial"/>
              </a:rPr>
              <a:t>04 – ÜBERBLICK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713232"/>
            <a:ext cx="502920" cy="38100"/>
          </a:xfrm>
          <a:prstGeom prst="rect">
            <a:avLst/>
          </a:prstGeom>
          <a:solidFill>
            <a:srgbClr val="E11D4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548640" y="749808"/>
            <a:ext cx="10515600" cy="7315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</a:pPr>
            <a:r>
              <a:rPr sz="3000" b="1" i="0">
                <a:solidFill>
                  <a:srgbClr val="0F172A"/>
                </a:solidFill>
                <a:latin typeface="Arial"/>
              </a:rPr>
              <a:t>Drei Fallbeispiele aus dem Controlling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1481328"/>
            <a:ext cx="10881360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</a:pPr>
            <a:r>
              <a:rPr sz="1400" b="0" i="0">
                <a:solidFill>
                  <a:srgbClr val="475569"/>
                </a:solidFill>
                <a:latin typeface="Arial"/>
              </a:rPr>
              <a:t>Am fiktiven Kleinunternehmen Kara zeigen wir drei aufeinander aufbauende Anwendungen.</a:t>
            </a:r>
          </a:p>
        </p:txBody>
      </p:sp>
      <p:sp>
        <p:nvSpPr>
          <p:cNvPr id="7" name="Rectangle 6"/>
          <p:cNvSpPr/>
          <p:nvPr/>
        </p:nvSpPr>
        <p:spPr>
          <a:xfrm>
            <a:off x="566928" y="2331720"/>
            <a:ext cx="502920" cy="31750"/>
          </a:xfrm>
          <a:prstGeom prst="rect">
            <a:avLst/>
          </a:prstGeom>
          <a:solidFill>
            <a:srgbClr val="E11D4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566928" y="2441448"/>
            <a:ext cx="3503066" cy="5029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</a:pPr>
            <a:r>
              <a:rPr sz="2600" b="1" i="0">
                <a:solidFill>
                  <a:srgbClr val="E11D48"/>
                </a:solidFill>
                <a:latin typeface="Arial"/>
              </a:rPr>
              <a:t>01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66928" y="2953512"/>
            <a:ext cx="3503066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</a:pPr>
            <a:r>
              <a:rPr sz="1400" b="1" i="0">
                <a:solidFill>
                  <a:srgbClr val="0F172A"/>
                </a:solidFill>
                <a:latin typeface="Arial"/>
              </a:rPr>
              <a:t>Controlling-Cockpit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66928" y="3355848"/>
            <a:ext cx="3503066" cy="8229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</a:pPr>
            <a:r>
              <a:rPr sz="1150" b="0" i="0">
                <a:solidFill>
                  <a:srgbClr val="475569"/>
                </a:solidFill>
                <a:latin typeface="Arial"/>
              </a:rPr>
              <a:t>Der Hauptfall: alle Datenquellen, Kennzahlen, Trends und eine begründete Empfehlung an einer Stelle.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344314" y="2331720"/>
            <a:ext cx="502920" cy="31750"/>
          </a:xfrm>
          <a:prstGeom prst="rect">
            <a:avLst/>
          </a:prstGeom>
          <a:solidFill>
            <a:srgbClr val="E11D4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4344314" y="2441448"/>
            <a:ext cx="3503066" cy="5029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</a:pPr>
            <a:r>
              <a:rPr sz="2600" b="1" i="0">
                <a:solidFill>
                  <a:srgbClr val="E11D48"/>
                </a:solidFill>
                <a:latin typeface="Arial"/>
              </a:rPr>
              <a:t>02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344314" y="2953512"/>
            <a:ext cx="3503066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</a:pPr>
            <a:r>
              <a:rPr sz="1400" b="1" i="0">
                <a:solidFill>
                  <a:srgbClr val="0F172A"/>
                </a:solidFill>
                <a:latin typeface="Arial"/>
              </a:rPr>
              <a:t>Budget- &amp; Kostenanalyse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344314" y="3355848"/>
            <a:ext cx="3503066" cy="8229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</a:pPr>
            <a:r>
              <a:rPr sz="1150" b="0" i="0">
                <a:solidFill>
                  <a:srgbClr val="475569"/>
                </a:solidFill>
                <a:latin typeface="Arial"/>
              </a:rPr>
              <a:t>Plan-Ist-Vergleich je Kostenstelle. Die KI hebt auffällige Abweichungen hervor und erklärt sie.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121700" y="2331720"/>
            <a:ext cx="502920" cy="31750"/>
          </a:xfrm>
          <a:prstGeom prst="rect">
            <a:avLst/>
          </a:prstGeom>
          <a:solidFill>
            <a:srgbClr val="E11D4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8121700" y="2441448"/>
            <a:ext cx="3503066" cy="5029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</a:pPr>
            <a:r>
              <a:rPr sz="2600" b="1" i="0">
                <a:solidFill>
                  <a:srgbClr val="E11D48"/>
                </a:solidFill>
                <a:latin typeface="Arial"/>
              </a:rPr>
              <a:t>03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121700" y="2953512"/>
            <a:ext cx="3503066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</a:pPr>
            <a:r>
              <a:rPr sz="1400" b="1" i="0">
                <a:solidFill>
                  <a:srgbClr val="0F172A"/>
                </a:solidFill>
                <a:latin typeface="Arial"/>
              </a:rPr>
              <a:t>Forecasting &amp; Frühwarnung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121700" y="3355848"/>
            <a:ext cx="3503066" cy="8229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</a:pPr>
            <a:r>
              <a:rPr sz="1150" b="0" i="0">
                <a:solidFill>
                  <a:srgbClr val="475569"/>
                </a:solidFill>
                <a:latin typeface="Arial"/>
              </a:rPr>
              <a:t>Fortschreibung von Trends, etwa der Liquidität, mit einer klaren Frühwarnschwelle.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48640" y="6355080"/>
            <a:ext cx="11094415" cy="127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548640" y="6409944"/>
            <a:ext cx="82296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</a:pPr>
            <a:r>
              <a:rPr sz="900" b="1" i="0">
                <a:solidFill>
                  <a:srgbClr val="0F172A"/>
                </a:solidFill>
                <a:latin typeface="Arial"/>
              </a:rPr>
              <a:t>IDP · Kara-Cockpit</a:t>
            </a:r>
            <a:r>
              <a:rPr sz="900" b="0" i="0">
                <a:solidFill>
                  <a:srgbClr val="94A3B8"/>
                </a:solidFill>
                <a:latin typeface="Arial"/>
              </a:rPr>
              <a:t>   /   Abdulhamid Karatas · Kadir Atar · HS Pforzheim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911535" y="6409944"/>
            <a:ext cx="73152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spcBef>
                <a:spcPts val="0"/>
              </a:spcBef>
            </a:pPr>
            <a:r>
              <a:rPr sz="900" b="0" i="0">
                <a:solidFill>
                  <a:srgbClr val="94A3B8"/>
                </a:solidFill>
                <a:latin typeface="Arial"/>
              </a:rPr>
              <a:t>10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hspf-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591495" y="310896"/>
            <a:ext cx="1051560" cy="47907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548640" y="384048"/>
            <a:ext cx="73152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</a:pPr>
            <a:r>
              <a:rPr sz="1100" b="1" i="0">
                <a:solidFill>
                  <a:srgbClr val="E11D48"/>
                </a:solidFill>
                <a:latin typeface="Arial"/>
              </a:rPr>
              <a:t>05 – FALLBEISPIEL 1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713232"/>
            <a:ext cx="502920" cy="38100"/>
          </a:xfrm>
          <a:prstGeom prst="rect">
            <a:avLst/>
          </a:prstGeom>
          <a:solidFill>
            <a:srgbClr val="E11D4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548640" y="749808"/>
            <a:ext cx="10515600" cy="7315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</a:pPr>
            <a:r>
              <a:rPr sz="3000" b="1" i="0">
                <a:solidFill>
                  <a:srgbClr val="0F172A"/>
                </a:solidFill>
                <a:latin typeface="Arial"/>
              </a:rPr>
              <a:t>Das Controlling-Cockpit in der Anwendung</a:t>
            </a:r>
          </a:p>
        </p:txBody>
      </p:sp>
      <p:sp>
        <p:nvSpPr>
          <p:cNvPr id="6" name="Rectangle 5"/>
          <p:cNvSpPr/>
          <p:nvPr/>
        </p:nvSpPr>
        <p:spPr>
          <a:xfrm>
            <a:off x="566927" y="1693242"/>
            <a:ext cx="7315202" cy="4020155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7" name="Picture 6" descr="abb-cockpit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66928" y="1693243"/>
            <a:ext cx="7315200" cy="4020153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8183879" y="1691640"/>
            <a:ext cx="34290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</a:pPr>
            <a:r>
              <a:rPr sz="1000" b="1" i="0">
                <a:solidFill>
                  <a:srgbClr val="E11D48"/>
                </a:solidFill>
                <a:latin typeface="Arial"/>
              </a:rPr>
              <a:t>WAS MAN SIEHT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183879" y="2103120"/>
            <a:ext cx="3429000" cy="3657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50000"/>
              </a:lnSpc>
              <a:spcBef>
                <a:spcPts val="0"/>
              </a:spcBef>
            </a:pPr>
            <a:r>
              <a:rPr sz="1200" b="0" i="0">
                <a:solidFill>
                  <a:srgbClr val="475569"/>
                </a:solidFill>
                <a:latin typeface="Arial"/>
              </a:rPr>
              <a:t>•  KPI-Übersicht auf einen Blick</a:t>
            </a:r>
          </a:p>
          <a:p>
            <a:pPr algn="l">
              <a:lnSpc>
                <a:spcPct val="150000"/>
              </a:lnSpc>
              <a:spcBef>
                <a:spcPts val="0"/>
              </a:spcBef>
            </a:pPr>
            <a:r>
              <a:rPr sz="1200" b="0" i="0">
                <a:solidFill>
                  <a:srgbClr val="475569"/>
                </a:solidFill>
                <a:latin typeface="Arial"/>
              </a:rPr>
              <a:t>•  Trenddiagramm je Szenario</a:t>
            </a:r>
          </a:p>
          <a:p>
            <a:pPr algn="l">
              <a:lnSpc>
                <a:spcPct val="150000"/>
              </a:lnSpc>
              <a:spcBef>
                <a:spcPts val="0"/>
              </a:spcBef>
            </a:pPr>
            <a:r>
              <a:rPr sz="1200" b="0" i="0">
                <a:solidFill>
                  <a:srgbClr val="475569"/>
                </a:solidFill>
                <a:latin typeface="Arial"/>
              </a:rPr>
              <a:t>•  KI-Findings mit Begründung</a:t>
            </a:r>
          </a:p>
          <a:p>
            <a:pPr algn="l">
              <a:lnSpc>
                <a:spcPct val="150000"/>
              </a:lnSpc>
              <a:spcBef>
                <a:spcPts val="0"/>
              </a:spcBef>
            </a:pPr>
            <a:r>
              <a:rPr sz="1200" b="0" i="0">
                <a:solidFill>
                  <a:srgbClr val="475569"/>
                </a:solidFill>
                <a:latin typeface="Arial"/>
              </a:rPr>
              <a:t>•  Datenqualität und Risiko</a:t>
            </a:r>
          </a:p>
          <a:p>
            <a:pPr algn="l">
              <a:lnSpc>
                <a:spcPct val="150000"/>
              </a:lnSpc>
              <a:spcBef>
                <a:spcPts val="0"/>
              </a:spcBef>
            </a:pPr>
            <a:r>
              <a:rPr sz="1200" b="0" i="0">
                <a:solidFill>
                  <a:srgbClr val="475569"/>
                </a:solidFill>
                <a:latin typeface="Arial"/>
              </a:rPr>
              <a:t>•  Handlungsempfehlung zur Freigabe</a:t>
            </a:r>
          </a:p>
        </p:txBody>
      </p:sp>
      <p:sp>
        <p:nvSpPr>
          <p:cNvPr id="10" name="Rectangle 9"/>
          <p:cNvSpPr/>
          <p:nvPr/>
        </p:nvSpPr>
        <p:spPr>
          <a:xfrm>
            <a:off x="548640" y="6355080"/>
            <a:ext cx="11094415" cy="127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548640" y="6409944"/>
            <a:ext cx="82296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</a:pPr>
            <a:r>
              <a:rPr sz="900" b="1" i="0">
                <a:solidFill>
                  <a:srgbClr val="0F172A"/>
                </a:solidFill>
                <a:latin typeface="Arial"/>
              </a:rPr>
              <a:t>IDP · Kara-Cockpit</a:t>
            </a:r>
            <a:r>
              <a:rPr sz="900" b="0" i="0">
                <a:solidFill>
                  <a:srgbClr val="94A3B8"/>
                </a:solidFill>
                <a:latin typeface="Arial"/>
              </a:rPr>
              <a:t>   /   Abdulhamid Karatas · Kadir Atar · HS Pforzheim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911535" y="6409944"/>
            <a:ext cx="73152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spcBef>
                <a:spcPts val="0"/>
              </a:spcBef>
            </a:pPr>
            <a:r>
              <a:rPr sz="900" b="0" i="0">
                <a:solidFill>
                  <a:srgbClr val="94A3B8"/>
                </a:solidFill>
                <a:latin typeface="Arial"/>
              </a:rPr>
              <a:t>11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hspf-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591495" y="310896"/>
            <a:ext cx="1051560" cy="47907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548640" y="384048"/>
            <a:ext cx="73152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</a:pPr>
            <a:r>
              <a:rPr sz="1100" b="1" i="0">
                <a:solidFill>
                  <a:srgbClr val="E11D48"/>
                </a:solidFill>
                <a:latin typeface="Arial"/>
              </a:rPr>
              <a:t>05 – DATENZUSAMMENSETZUNG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713232"/>
            <a:ext cx="502920" cy="38100"/>
          </a:xfrm>
          <a:prstGeom prst="rect">
            <a:avLst/>
          </a:prstGeom>
          <a:solidFill>
            <a:srgbClr val="E11D4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548640" y="749808"/>
            <a:ext cx="10515600" cy="7315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</a:pPr>
            <a:r>
              <a:rPr sz="3000" b="1" i="0">
                <a:solidFill>
                  <a:srgbClr val="0F172A"/>
                </a:solidFill>
                <a:latin typeface="Arial"/>
              </a:rPr>
              <a:t>Woher die Daten kommen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1481328"/>
            <a:ext cx="10881360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</a:pPr>
            <a:r>
              <a:rPr sz="1400" b="0" i="0">
                <a:solidFill>
                  <a:srgbClr val="475569"/>
                </a:solidFill>
                <a:latin typeface="Arial"/>
              </a:rPr>
              <a:t>Über Konnektoren bindet Claude die relevanten Quellen an. Jede Quelle bekommt einen Datenqualitäts-Wert.</a:t>
            </a:r>
          </a:p>
        </p:txBody>
      </p:sp>
      <p:pic>
        <p:nvPicPr>
          <p:cNvPr id="7" name="Picture 6" descr="hub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66928" y="1973505"/>
            <a:ext cx="6766560" cy="3642509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7680960" y="1920240"/>
            <a:ext cx="393192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</a:pPr>
            <a:r>
              <a:rPr sz="1000" b="1" i="0">
                <a:solidFill>
                  <a:srgbClr val="E11D48"/>
                </a:solidFill>
                <a:latin typeface="Arial"/>
              </a:rPr>
              <a:t>SECHS DATENQUELLEN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680960" y="2331720"/>
            <a:ext cx="3931920" cy="3657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45000"/>
              </a:lnSpc>
              <a:spcBef>
                <a:spcPts val="0"/>
              </a:spcBef>
            </a:pPr>
            <a:r>
              <a:rPr sz="1200" b="0" i="0">
                <a:solidFill>
                  <a:srgbClr val="475569"/>
                </a:solidFill>
                <a:latin typeface="Arial"/>
              </a:rPr>
              <a:t>•  ERP / SAP – Aufträge, Umsatz</a:t>
            </a:r>
          </a:p>
          <a:p>
            <a:pPr algn="l">
              <a:lnSpc>
                <a:spcPct val="145000"/>
              </a:lnSpc>
              <a:spcBef>
                <a:spcPts val="0"/>
              </a:spcBef>
            </a:pPr>
            <a:r>
              <a:rPr sz="1200" b="0" i="0">
                <a:solidFill>
                  <a:srgbClr val="475569"/>
                </a:solidFill>
                <a:latin typeface="Arial"/>
              </a:rPr>
              <a:t>•  DATEV / lexoffice – Buchhaltung</a:t>
            </a:r>
          </a:p>
          <a:p>
            <a:pPr algn="l">
              <a:lnSpc>
                <a:spcPct val="145000"/>
              </a:lnSpc>
              <a:spcBef>
                <a:spcPts val="0"/>
              </a:spcBef>
            </a:pPr>
            <a:r>
              <a:rPr sz="1200" b="0" i="0">
                <a:solidFill>
                  <a:srgbClr val="475569"/>
                </a:solidFill>
                <a:latin typeface="Arial"/>
              </a:rPr>
              <a:t>•  HubSpot – CRM und Pipeline</a:t>
            </a:r>
          </a:p>
          <a:p>
            <a:pPr algn="l">
              <a:lnSpc>
                <a:spcPct val="145000"/>
              </a:lnSpc>
              <a:spcBef>
                <a:spcPts val="0"/>
              </a:spcBef>
            </a:pPr>
            <a:r>
              <a:rPr sz="1200" b="0" i="0">
                <a:solidFill>
                  <a:srgbClr val="475569"/>
                </a:solidFill>
                <a:latin typeface="Arial"/>
              </a:rPr>
              <a:t>•  Bank (FinTS) – Liquidität</a:t>
            </a:r>
          </a:p>
          <a:p>
            <a:pPr algn="l">
              <a:lnSpc>
                <a:spcPct val="145000"/>
              </a:lnSpc>
              <a:spcBef>
                <a:spcPts val="0"/>
              </a:spcBef>
            </a:pPr>
            <a:r>
              <a:rPr sz="1200" b="0" i="0">
                <a:solidFill>
                  <a:srgbClr val="475569"/>
                </a:solidFill>
                <a:latin typeface="Arial"/>
              </a:rPr>
              <a:t>•  Personio – Personal</a:t>
            </a:r>
          </a:p>
          <a:p>
            <a:pPr algn="l">
              <a:lnSpc>
                <a:spcPct val="145000"/>
              </a:lnSpc>
              <a:spcBef>
                <a:spcPts val="0"/>
              </a:spcBef>
            </a:pPr>
            <a:r>
              <a:rPr sz="1200" b="0" i="0">
                <a:solidFill>
                  <a:srgbClr val="475569"/>
                </a:solidFill>
                <a:latin typeface="Arial"/>
              </a:rPr>
              <a:t>•  Excel / CSV – Sonstiges</a:t>
            </a:r>
          </a:p>
        </p:txBody>
      </p:sp>
      <p:sp>
        <p:nvSpPr>
          <p:cNvPr id="10" name="Rectangle 9"/>
          <p:cNvSpPr/>
          <p:nvPr/>
        </p:nvSpPr>
        <p:spPr>
          <a:xfrm>
            <a:off x="548640" y="6355080"/>
            <a:ext cx="11094415" cy="127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548640" y="6409944"/>
            <a:ext cx="82296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</a:pPr>
            <a:r>
              <a:rPr sz="900" b="1" i="0">
                <a:solidFill>
                  <a:srgbClr val="0F172A"/>
                </a:solidFill>
                <a:latin typeface="Arial"/>
              </a:rPr>
              <a:t>IDP · Kara-Cockpit</a:t>
            </a:r>
            <a:r>
              <a:rPr sz="900" b="0" i="0">
                <a:solidFill>
                  <a:srgbClr val="94A3B8"/>
                </a:solidFill>
                <a:latin typeface="Arial"/>
              </a:rPr>
              <a:t>   /   Abdulhamid Karatas · Kadir Atar · HS Pforzheim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911535" y="6409944"/>
            <a:ext cx="73152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spcBef>
                <a:spcPts val="0"/>
              </a:spcBef>
            </a:pPr>
            <a:r>
              <a:rPr sz="900" b="0" i="0">
                <a:solidFill>
                  <a:srgbClr val="94A3B8"/>
                </a:solidFill>
                <a:latin typeface="Arial"/>
              </a:rPr>
              <a:t>12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hspf-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591495" y="310896"/>
            <a:ext cx="1051560" cy="47907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548640" y="384048"/>
            <a:ext cx="73152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</a:pPr>
            <a:r>
              <a:rPr sz="1100" b="1" i="0">
                <a:solidFill>
                  <a:srgbClr val="E11D48"/>
                </a:solidFill>
                <a:latin typeface="Arial"/>
              </a:rPr>
              <a:t>05 – SZENARIEN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713232"/>
            <a:ext cx="502920" cy="38100"/>
          </a:xfrm>
          <a:prstGeom prst="rect">
            <a:avLst/>
          </a:prstGeom>
          <a:solidFill>
            <a:srgbClr val="E11D4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548640" y="749808"/>
            <a:ext cx="10515600" cy="7315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</a:pPr>
            <a:r>
              <a:rPr sz="3000" b="1" i="0">
                <a:solidFill>
                  <a:srgbClr val="0F172A"/>
                </a:solidFill>
                <a:latin typeface="Arial"/>
              </a:rPr>
              <a:t>Drei Szenarien, dieselben Kennzahlen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1481328"/>
            <a:ext cx="10881360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</a:pPr>
            <a:r>
              <a:rPr sz="1400" b="0" i="0">
                <a:solidFill>
                  <a:srgbClr val="475569"/>
                </a:solidFill>
                <a:latin typeface="Arial"/>
              </a:rPr>
              <a:t>Das Cockpit zeigt jede Kennzahl je Lage. So wird sichtbar, wie sich die Steuerung verändert.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566928" y="2240280"/>
          <a:ext cx="11064240" cy="338328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36576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4688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46888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46888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483325">
                <a:tc>
                  <a:txBody>
                    <a:bodyPr/>
                    <a:lstStyle/>
                    <a:p>
                      <a:pPr algn="l"/>
                      <a:r>
                        <a:rPr sz="1300" b="1">
                          <a:solidFill>
                            <a:srgbClr val="FFFFFF"/>
                          </a:solidFill>
                          <a:latin typeface="Arial"/>
                        </a:rPr>
                        <a:t>Kennzahl</a:t>
                      </a:r>
                    </a:p>
                  </a:txBody>
                  <a:tcPr marL="137160" anchor="ctr"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FFFFFF"/>
                          </a:solidFill>
                          <a:latin typeface="Arial"/>
                        </a:rPr>
                        <a:t>Stabil</a:t>
                      </a:r>
                    </a:p>
                  </a:txBody>
                  <a:tcPr marL="137160" anchor="ctr"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FFFFFF"/>
                          </a:solidFill>
                          <a:latin typeface="Arial"/>
                        </a:rPr>
                        <a:t>Kritisch</a:t>
                      </a:r>
                    </a:p>
                  </a:txBody>
                  <a:tcPr marL="137160" anchor="ctr"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FFFFFF"/>
                          </a:solidFill>
                          <a:latin typeface="Arial"/>
                        </a:rPr>
                        <a:t>Wachstum</a:t>
                      </a:r>
                    </a:p>
                  </a:txBody>
                  <a:tcPr marL="137160" anchor="ctr">
                    <a:solidFill>
                      <a:srgbClr val="0F172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83325">
                <a:tc>
                  <a:txBody>
                    <a:bodyPr/>
                    <a:lstStyle/>
                    <a:p>
                      <a:pPr algn="l"/>
                      <a:r>
                        <a:rPr sz="1250" b="1">
                          <a:solidFill>
                            <a:srgbClr val="0F172A"/>
                          </a:solidFill>
                          <a:latin typeface="Arial"/>
                        </a:rPr>
                        <a:t>Umsatz</a:t>
                      </a:r>
                    </a:p>
                  </a:txBody>
                  <a:tcPr marL="137160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50" b="0">
                          <a:solidFill>
                            <a:srgbClr val="475569"/>
                          </a:solidFill>
                          <a:latin typeface="Arial"/>
                        </a:rPr>
                        <a:t>4,82 Mio €</a:t>
                      </a:r>
                    </a:p>
                  </a:txBody>
                  <a:tcPr marL="137160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50" b="0">
                          <a:solidFill>
                            <a:srgbClr val="475569"/>
                          </a:solidFill>
                          <a:latin typeface="Arial"/>
                        </a:rPr>
                        <a:t>4,21 Mio €</a:t>
                      </a:r>
                    </a:p>
                  </a:txBody>
                  <a:tcPr marL="137160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50" b="0">
                          <a:solidFill>
                            <a:srgbClr val="475569"/>
                          </a:solidFill>
                          <a:latin typeface="Arial"/>
                        </a:rPr>
                        <a:t>5,90 Mio €</a:t>
                      </a:r>
                    </a:p>
                  </a:txBody>
                  <a:tcPr marL="137160" marT="36576" marB="36576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83325">
                <a:tc>
                  <a:txBody>
                    <a:bodyPr/>
                    <a:lstStyle/>
                    <a:p>
                      <a:pPr algn="l"/>
                      <a:r>
                        <a:rPr sz="1250" b="1">
                          <a:solidFill>
                            <a:srgbClr val="0F172A"/>
                          </a:solidFill>
                          <a:latin typeface="Arial"/>
                        </a:rPr>
                        <a:t>Kostenquote</a:t>
                      </a:r>
                    </a:p>
                  </a:txBody>
                  <a:tcPr marL="137160" marT="36576" marB="36576" anchor="ctr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50" b="0">
                          <a:solidFill>
                            <a:srgbClr val="475569"/>
                          </a:solidFill>
                          <a:latin typeface="Arial"/>
                        </a:rPr>
                        <a:t>41,8 %</a:t>
                      </a:r>
                    </a:p>
                  </a:txBody>
                  <a:tcPr marL="137160" marT="36576" marB="36576" anchor="ctr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50" b="0">
                          <a:solidFill>
                            <a:srgbClr val="475569"/>
                          </a:solidFill>
                          <a:latin typeface="Arial"/>
                        </a:rPr>
                        <a:t>48,6 %</a:t>
                      </a:r>
                    </a:p>
                  </a:txBody>
                  <a:tcPr marL="137160" marT="36576" marB="36576" anchor="ctr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50" b="0">
                          <a:solidFill>
                            <a:srgbClr val="475569"/>
                          </a:solidFill>
                          <a:latin typeface="Arial"/>
                        </a:rPr>
                        <a:t>43,5 %</a:t>
                      </a:r>
                    </a:p>
                  </a:txBody>
                  <a:tcPr marL="137160" marT="36576" marB="36576" anchor="ctr">
                    <a:solidFill>
                      <a:srgbClr val="F1F5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83325">
                <a:tc>
                  <a:txBody>
                    <a:bodyPr/>
                    <a:lstStyle/>
                    <a:p>
                      <a:pPr algn="l"/>
                      <a:r>
                        <a:rPr sz="1250" b="1">
                          <a:solidFill>
                            <a:srgbClr val="0F172A"/>
                          </a:solidFill>
                          <a:latin typeface="Arial"/>
                        </a:rPr>
                        <a:t>Deckungsbeitrag</a:t>
                      </a:r>
                    </a:p>
                  </a:txBody>
                  <a:tcPr marL="137160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50" b="0">
                          <a:solidFill>
                            <a:srgbClr val="475569"/>
                          </a:solidFill>
                          <a:latin typeface="Arial"/>
                        </a:rPr>
                        <a:t>1,34 Mio €</a:t>
                      </a:r>
                    </a:p>
                  </a:txBody>
                  <a:tcPr marL="137160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50" b="0">
                          <a:solidFill>
                            <a:srgbClr val="475569"/>
                          </a:solidFill>
                          <a:latin typeface="Arial"/>
                        </a:rPr>
                        <a:t>0,92 Mio €</a:t>
                      </a:r>
                    </a:p>
                  </a:txBody>
                  <a:tcPr marL="137160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50" b="0">
                          <a:solidFill>
                            <a:srgbClr val="475569"/>
                          </a:solidFill>
                          <a:latin typeface="Arial"/>
                        </a:rPr>
                        <a:t>1,61 Mio €</a:t>
                      </a:r>
                    </a:p>
                  </a:txBody>
                  <a:tcPr marL="137160" marT="36576" marB="36576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83325">
                <a:tc>
                  <a:txBody>
                    <a:bodyPr/>
                    <a:lstStyle/>
                    <a:p>
                      <a:pPr algn="l"/>
                      <a:r>
                        <a:rPr sz="1250" b="1">
                          <a:solidFill>
                            <a:srgbClr val="0F172A"/>
                          </a:solidFill>
                          <a:latin typeface="Arial"/>
                        </a:rPr>
                        <a:t>Liquidität</a:t>
                      </a:r>
                    </a:p>
                  </a:txBody>
                  <a:tcPr marL="137160" marT="36576" marB="36576" anchor="ctr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50" b="0">
                          <a:solidFill>
                            <a:srgbClr val="475569"/>
                          </a:solidFill>
                          <a:latin typeface="Arial"/>
                        </a:rPr>
                        <a:t>780 Tsd €</a:t>
                      </a:r>
                    </a:p>
                  </a:txBody>
                  <a:tcPr marL="137160" marT="36576" marB="36576" anchor="ctr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50" b="0">
                          <a:solidFill>
                            <a:srgbClr val="475569"/>
                          </a:solidFill>
                          <a:latin typeface="Arial"/>
                        </a:rPr>
                        <a:t>410 Tsd €</a:t>
                      </a:r>
                    </a:p>
                  </a:txBody>
                  <a:tcPr marL="137160" marT="36576" marB="36576" anchor="ctr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50" b="0">
                          <a:solidFill>
                            <a:srgbClr val="475569"/>
                          </a:solidFill>
                          <a:latin typeface="Arial"/>
                        </a:rPr>
                        <a:t>640 Tsd €</a:t>
                      </a:r>
                    </a:p>
                  </a:txBody>
                  <a:tcPr marL="137160" marT="36576" marB="36576" anchor="ctr">
                    <a:solidFill>
                      <a:srgbClr val="F1F5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83325">
                <a:tc>
                  <a:txBody>
                    <a:bodyPr/>
                    <a:lstStyle/>
                    <a:p>
                      <a:pPr algn="l"/>
                      <a:r>
                        <a:rPr sz="1250" b="1">
                          <a:solidFill>
                            <a:srgbClr val="0F172A"/>
                          </a:solidFill>
                          <a:latin typeface="Arial"/>
                        </a:rPr>
                        <a:t>Budgetabweichung</a:t>
                      </a:r>
                    </a:p>
                  </a:txBody>
                  <a:tcPr marL="137160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50" b="0">
                          <a:solidFill>
                            <a:srgbClr val="475569"/>
                          </a:solidFill>
                          <a:latin typeface="Arial"/>
                        </a:rPr>
                        <a:t>3,6 %</a:t>
                      </a:r>
                    </a:p>
                  </a:txBody>
                  <a:tcPr marL="137160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50" b="0">
                          <a:solidFill>
                            <a:srgbClr val="475569"/>
                          </a:solidFill>
                          <a:latin typeface="Arial"/>
                        </a:rPr>
                        <a:t>9,4 %</a:t>
                      </a:r>
                    </a:p>
                  </a:txBody>
                  <a:tcPr marL="137160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50" b="0">
                          <a:solidFill>
                            <a:srgbClr val="475569"/>
                          </a:solidFill>
                          <a:latin typeface="Arial"/>
                        </a:rPr>
                        <a:t>6,1 %</a:t>
                      </a:r>
                    </a:p>
                  </a:txBody>
                  <a:tcPr marL="137160" marT="36576" marB="36576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83330">
                <a:tc>
                  <a:txBody>
                    <a:bodyPr/>
                    <a:lstStyle/>
                    <a:p>
                      <a:pPr algn="l"/>
                      <a:r>
                        <a:rPr sz="1250" b="1">
                          <a:solidFill>
                            <a:srgbClr val="0F172A"/>
                          </a:solidFill>
                          <a:latin typeface="Arial"/>
                        </a:rPr>
                        <a:t>Risikoindex</a:t>
                      </a:r>
                    </a:p>
                  </a:txBody>
                  <a:tcPr marL="137160" marT="36576" marB="36576" anchor="ctr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50" b="0">
                          <a:solidFill>
                            <a:srgbClr val="475569"/>
                          </a:solidFill>
                          <a:latin typeface="Arial"/>
                        </a:rPr>
                        <a:t>42</a:t>
                      </a:r>
                    </a:p>
                  </a:txBody>
                  <a:tcPr marL="137160" marT="36576" marB="36576" anchor="ctr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50" b="0">
                          <a:solidFill>
                            <a:srgbClr val="475569"/>
                          </a:solidFill>
                          <a:latin typeface="Arial"/>
                        </a:rPr>
                        <a:t>71</a:t>
                      </a:r>
                    </a:p>
                  </a:txBody>
                  <a:tcPr marL="137160" marT="36576" marB="36576" anchor="ctr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50" b="0">
                          <a:solidFill>
                            <a:srgbClr val="475569"/>
                          </a:solidFill>
                          <a:latin typeface="Arial"/>
                        </a:rPr>
                        <a:t>55</a:t>
                      </a:r>
                    </a:p>
                  </a:txBody>
                  <a:tcPr marL="137160" marT="36576" marB="36576" anchor="ctr">
                    <a:solidFill>
                      <a:srgbClr val="F1F5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566928" y="5897880"/>
            <a:ext cx="105156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</a:pPr>
            <a:r>
              <a:rPr sz="950" b="0" i="1">
                <a:solidFill>
                  <a:srgbClr val="94A3B8"/>
                </a:solidFill>
                <a:latin typeface="Arial"/>
              </a:rPr>
              <a:t>Demo-Daten des Kara-Datensatzes; identisch zur Live-Demo der Website.</a:t>
            </a:r>
          </a:p>
        </p:txBody>
      </p:sp>
      <p:sp>
        <p:nvSpPr>
          <p:cNvPr id="9" name="Rectangle 8"/>
          <p:cNvSpPr/>
          <p:nvPr/>
        </p:nvSpPr>
        <p:spPr>
          <a:xfrm>
            <a:off x="548640" y="6355080"/>
            <a:ext cx="11094415" cy="127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548640" y="6409944"/>
            <a:ext cx="82296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</a:pPr>
            <a:r>
              <a:rPr sz="900" b="1" i="0">
                <a:solidFill>
                  <a:srgbClr val="0F172A"/>
                </a:solidFill>
                <a:latin typeface="Arial"/>
              </a:rPr>
              <a:t>IDP · Kara-Cockpit</a:t>
            </a:r>
            <a:r>
              <a:rPr sz="900" b="0" i="0">
                <a:solidFill>
                  <a:srgbClr val="94A3B8"/>
                </a:solidFill>
                <a:latin typeface="Arial"/>
              </a:rPr>
              <a:t>   /   Abdulhamid Karatas · Kadir Atar · HS Pforzheim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911535" y="6409944"/>
            <a:ext cx="73152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spcBef>
                <a:spcPts val="0"/>
              </a:spcBef>
            </a:pPr>
            <a:r>
              <a:rPr sz="900" b="0" i="0">
                <a:solidFill>
                  <a:srgbClr val="94A3B8"/>
                </a:solidFill>
                <a:latin typeface="Arial"/>
              </a:rPr>
              <a:t>13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hspf-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591495" y="310896"/>
            <a:ext cx="1051560" cy="47907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548640" y="384048"/>
            <a:ext cx="73152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</a:pPr>
            <a:r>
              <a:rPr sz="1100" b="1" i="0">
                <a:solidFill>
                  <a:srgbClr val="E11D48"/>
                </a:solidFill>
                <a:latin typeface="Arial"/>
              </a:rPr>
              <a:t>05 – DATENANALYSE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713232"/>
            <a:ext cx="502920" cy="38100"/>
          </a:xfrm>
          <a:prstGeom prst="rect">
            <a:avLst/>
          </a:prstGeom>
          <a:solidFill>
            <a:srgbClr val="E11D4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548640" y="749808"/>
            <a:ext cx="10515600" cy="7315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</a:pPr>
            <a:r>
              <a:rPr sz="3000" b="1" i="0">
                <a:solidFill>
                  <a:srgbClr val="0F172A"/>
                </a:solidFill>
                <a:latin typeface="Arial"/>
              </a:rPr>
              <a:t>Von den Rohdaten zur Empfehlung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1481328"/>
            <a:ext cx="10881360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</a:pPr>
            <a:r>
              <a:rPr sz="1400" b="0" i="0">
                <a:solidFill>
                  <a:srgbClr val="475569"/>
                </a:solidFill>
                <a:latin typeface="Arial"/>
              </a:rPr>
              <a:t>Die KI verdichtet die Daten zu Kennzahlen, prüft Trends und leitet eine begründete Empfehlung ab. Den letzten Schritt macht der Mensch.</a:t>
            </a:r>
          </a:p>
        </p:txBody>
      </p:sp>
      <p:pic>
        <p:nvPicPr>
          <p:cNvPr id="7" name="Picture 6" descr="flow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66928" y="2941579"/>
            <a:ext cx="11064240" cy="883401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566928" y="5897880"/>
            <a:ext cx="105156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</a:pPr>
            <a:r>
              <a:rPr sz="950" b="0" i="1">
                <a:solidFill>
                  <a:srgbClr val="94A3B8"/>
                </a:solidFill>
                <a:latin typeface="Arial"/>
              </a:rPr>
              <a:t>Analyse-Ablauf des Cockpits; jede Stufe ist nachvollziehbar dokumentiert.</a:t>
            </a:r>
          </a:p>
        </p:txBody>
      </p:sp>
      <p:sp>
        <p:nvSpPr>
          <p:cNvPr id="9" name="Rectangle 8"/>
          <p:cNvSpPr/>
          <p:nvPr/>
        </p:nvSpPr>
        <p:spPr>
          <a:xfrm>
            <a:off x="548640" y="6355080"/>
            <a:ext cx="11094415" cy="127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548640" y="6409944"/>
            <a:ext cx="82296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</a:pPr>
            <a:r>
              <a:rPr sz="900" b="1" i="0">
                <a:solidFill>
                  <a:srgbClr val="0F172A"/>
                </a:solidFill>
                <a:latin typeface="Arial"/>
              </a:rPr>
              <a:t>IDP · Kara-Cockpit</a:t>
            </a:r>
            <a:r>
              <a:rPr sz="900" b="0" i="0">
                <a:solidFill>
                  <a:srgbClr val="94A3B8"/>
                </a:solidFill>
                <a:latin typeface="Arial"/>
              </a:rPr>
              <a:t>   /   Abdulhamid Karatas · Kadir Atar · HS Pforzheim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911535" y="6409944"/>
            <a:ext cx="73152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spcBef>
                <a:spcPts val="0"/>
              </a:spcBef>
            </a:pPr>
            <a:r>
              <a:rPr sz="900" b="0" i="0">
                <a:solidFill>
                  <a:srgbClr val="94A3B8"/>
                </a:solidFill>
                <a:latin typeface="Arial"/>
              </a:rPr>
              <a:t>14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hspf-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591495" y="310896"/>
            <a:ext cx="1051560" cy="47907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548640" y="384048"/>
            <a:ext cx="73152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</a:pPr>
            <a:r>
              <a:rPr sz="1100" b="1" i="0">
                <a:solidFill>
                  <a:srgbClr val="E11D48"/>
                </a:solidFill>
                <a:latin typeface="Arial"/>
              </a:rPr>
              <a:t>06 – FALLBEISPIEL 2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713232"/>
            <a:ext cx="502920" cy="38100"/>
          </a:xfrm>
          <a:prstGeom prst="rect">
            <a:avLst/>
          </a:prstGeom>
          <a:solidFill>
            <a:srgbClr val="E11D4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548640" y="749808"/>
            <a:ext cx="10515600" cy="7315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</a:pPr>
            <a:r>
              <a:rPr sz="3000" b="1" i="0">
                <a:solidFill>
                  <a:srgbClr val="0F172A"/>
                </a:solidFill>
                <a:latin typeface="Arial"/>
              </a:rPr>
              <a:t>Budget- und Kostenabweichungsanalyse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1481328"/>
            <a:ext cx="10881360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</a:pPr>
            <a:r>
              <a:rPr sz="1400" b="0" i="0">
                <a:solidFill>
                  <a:srgbClr val="475569"/>
                </a:solidFill>
                <a:latin typeface="Arial"/>
              </a:rPr>
              <a:t>Plan und Ist je Kostenstelle im Vergleich. Die KI markiert auffällige Überschreitungen und erklärt, was dahintersteckt.</a:t>
            </a:r>
          </a:p>
        </p:txBody>
      </p:sp>
      <p:sp>
        <p:nvSpPr>
          <p:cNvPr id="7" name="Rectangle 6"/>
          <p:cNvSpPr/>
          <p:nvPr/>
        </p:nvSpPr>
        <p:spPr>
          <a:xfrm>
            <a:off x="566927" y="1995423"/>
            <a:ext cx="7040882" cy="3598674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8" name="Picture 7" descr="kosten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66928" y="1995424"/>
            <a:ext cx="7040880" cy="3598672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7955279" y="1965960"/>
            <a:ext cx="36576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</a:pPr>
            <a:r>
              <a:rPr sz="1000" b="1" i="0">
                <a:solidFill>
                  <a:srgbClr val="E11D48"/>
                </a:solidFill>
                <a:latin typeface="Arial"/>
              </a:rPr>
              <a:t>WAS DIE KI TUT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955279" y="2377440"/>
            <a:ext cx="3657600" cy="3657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50000"/>
              </a:lnSpc>
              <a:spcBef>
                <a:spcPts val="0"/>
              </a:spcBef>
            </a:pPr>
            <a:r>
              <a:rPr sz="1200" b="0" i="0">
                <a:solidFill>
                  <a:srgbClr val="475569"/>
                </a:solidFill>
                <a:latin typeface="Arial"/>
              </a:rPr>
              <a:t>•  vergleicht Plan und Ist je Kostenstelle</a:t>
            </a:r>
          </a:p>
          <a:p>
            <a:pPr algn="l">
              <a:lnSpc>
                <a:spcPct val="150000"/>
              </a:lnSpc>
              <a:spcBef>
                <a:spcPts val="0"/>
              </a:spcBef>
            </a:pPr>
            <a:r>
              <a:rPr sz="1200" b="0" i="0">
                <a:solidFill>
                  <a:srgbClr val="475569"/>
                </a:solidFill>
                <a:latin typeface="Arial"/>
              </a:rPr>
              <a:t>•  hebt Abweichungen über Schwelle hervor</a:t>
            </a:r>
          </a:p>
          <a:p>
            <a:pPr algn="l">
              <a:lnSpc>
                <a:spcPct val="150000"/>
              </a:lnSpc>
              <a:spcBef>
                <a:spcPts val="0"/>
              </a:spcBef>
            </a:pPr>
            <a:r>
              <a:rPr sz="1200" b="0" i="0">
                <a:solidFill>
                  <a:srgbClr val="475569"/>
                </a:solidFill>
                <a:latin typeface="Arial"/>
              </a:rPr>
              <a:t>•  nennt mögliche Ursachen</a:t>
            </a:r>
          </a:p>
          <a:p>
            <a:pPr algn="l">
              <a:lnSpc>
                <a:spcPct val="150000"/>
              </a:lnSpc>
              <a:spcBef>
                <a:spcPts val="0"/>
              </a:spcBef>
            </a:pPr>
            <a:r>
              <a:rPr sz="1200" b="0" i="0">
                <a:solidFill>
                  <a:srgbClr val="475569"/>
                </a:solidFill>
                <a:latin typeface="Arial"/>
              </a:rPr>
              <a:t>•  schlägt eine Gegenmaßnahme vor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48640" y="6355080"/>
            <a:ext cx="11094415" cy="127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548640" y="6409944"/>
            <a:ext cx="82296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</a:pPr>
            <a:r>
              <a:rPr sz="900" b="1" i="0">
                <a:solidFill>
                  <a:srgbClr val="0F172A"/>
                </a:solidFill>
                <a:latin typeface="Arial"/>
              </a:rPr>
              <a:t>IDP · Kara-Cockpit</a:t>
            </a:r>
            <a:r>
              <a:rPr sz="900" b="0" i="0">
                <a:solidFill>
                  <a:srgbClr val="94A3B8"/>
                </a:solidFill>
                <a:latin typeface="Arial"/>
              </a:rPr>
              <a:t>   /   Abdulhamid Karatas · Kadir Atar · HS Pforzheim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911535" y="6409944"/>
            <a:ext cx="73152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spcBef>
                <a:spcPts val="0"/>
              </a:spcBef>
            </a:pPr>
            <a:r>
              <a:rPr sz="900" b="0" i="0">
                <a:solidFill>
                  <a:srgbClr val="94A3B8"/>
                </a:solidFill>
                <a:latin typeface="Arial"/>
              </a:rPr>
              <a:t>15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hspf-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591495" y="310896"/>
            <a:ext cx="1051560" cy="47907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548640" y="384048"/>
            <a:ext cx="73152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</a:pPr>
            <a:r>
              <a:rPr sz="1100" b="1" i="0">
                <a:solidFill>
                  <a:srgbClr val="E11D48"/>
                </a:solidFill>
                <a:latin typeface="Arial"/>
              </a:rPr>
              <a:t>07 – FALLBEISPIEL 3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713232"/>
            <a:ext cx="502920" cy="38100"/>
          </a:xfrm>
          <a:prstGeom prst="rect">
            <a:avLst/>
          </a:prstGeom>
          <a:solidFill>
            <a:srgbClr val="E11D4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548640" y="749808"/>
            <a:ext cx="10515600" cy="7315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</a:pPr>
            <a:r>
              <a:rPr sz="3000" b="1" i="0">
                <a:solidFill>
                  <a:srgbClr val="0F172A"/>
                </a:solidFill>
                <a:latin typeface="Arial"/>
              </a:rPr>
              <a:t>Forecasting und Frühwarnsystem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1481328"/>
            <a:ext cx="10881360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</a:pPr>
            <a:r>
              <a:rPr sz="1400" b="0" i="0">
                <a:solidFill>
                  <a:srgbClr val="475569"/>
                </a:solidFill>
                <a:latin typeface="Arial"/>
              </a:rPr>
              <a:t>Die KI schreibt Trends fort, etwa die Liquidität, und schlägt Alarm, sobald eine Frühwarnschwelle unterschritten wird.</a:t>
            </a:r>
          </a:p>
        </p:txBody>
      </p:sp>
      <p:sp>
        <p:nvSpPr>
          <p:cNvPr id="7" name="Rectangle 6"/>
          <p:cNvSpPr/>
          <p:nvPr/>
        </p:nvSpPr>
        <p:spPr>
          <a:xfrm>
            <a:off x="566927" y="1995423"/>
            <a:ext cx="7040882" cy="3598674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8" name="Picture 7" descr="forecast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66928" y="1995424"/>
            <a:ext cx="7040880" cy="3598672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7955279" y="1965960"/>
            <a:ext cx="36576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</a:pPr>
            <a:r>
              <a:rPr sz="1000" b="1" i="0">
                <a:solidFill>
                  <a:srgbClr val="E11D48"/>
                </a:solidFill>
                <a:latin typeface="Arial"/>
              </a:rPr>
              <a:t>NUTZEN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955279" y="2377440"/>
            <a:ext cx="3657600" cy="3657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50000"/>
              </a:lnSpc>
              <a:spcBef>
                <a:spcPts val="0"/>
              </a:spcBef>
            </a:pPr>
            <a:r>
              <a:rPr sz="1200" b="0" i="0">
                <a:solidFill>
                  <a:srgbClr val="475569"/>
                </a:solidFill>
                <a:latin typeface="Arial"/>
              </a:rPr>
              <a:t>•  erkennt Engpässe, bevor sie eintreten</a:t>
            </a:r>
          </a:p>
          <a:p>
            <a:pPr algn="l">
              <a:lnSpc>
                <a:spcPct val="150000"/>
              </a:lnSpc>
              <a:spcBef>
                <a:spcPts val="0"/>
              </a:spcBef>
            </a:pPr>
            <a:r>
              <a:rPr sz="1200" b="0" i="0">
                <a:solidFill>
                  <a:srgbClr val="475569"/>
                </a:solidFill>
                <a:latin typeface="Arial"/>
              </a:rPr>
              <a:t>•  klare Schwelle statt Bauchgefühl</a:t>
            </a:r>
          </a:p>
          <a:p>
            <a:pPr algn="l">
              <a:lnSpc>
                <a:spcPct val="150000"/>
              </a:lnSpc>
              <a:spcBef>
                <a:spcPts val="0"/>
              </a:spcBef>
            </a:pPr>
            <a:r>
              <a:rPr sz="1200" b="0" i="0">
                <a:solidFill>
                  <a:srgbClr val="475569"/>
                </a:solidFill>
                <a:latin typeface="Arial"/>
              </a:rPr>
              <a:t>•  Zeit zum Gegensteuern</a:t>
            </a:r>
          </a:p>
          <a:p>
            <a:pPr algn="l">
              <a:lnSpc>
                <a:spcPct val="150000"/>
              </a:lnSpc>
              <a:spcBef>
                <a:spcPts val="0"/>
              </a:spcBef>
            </a:pPr>
            <a:r>
              <a:rPr sz="1200" b="0" i="0">
                <a:solidFill>
                  <a:srgbClr val="475569"/>
                </a:solidFill>
                <a:latin typeface="Arial"/>
              </a:rPr>
              <a:t>•  Szenarien direkt vergleichbar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48640" y="6355080"/>
            <a:ext cx="11094415" cy="127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548640" y="6409944"/>
            <a:ext cx="82296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</a:pPr>
            <a:r>
              <a:rPr sz="900" b="1" i="0">
                <a:solidFill>
                  <a:srgbClr val="0F172A"/>
                </a:solidFill>
                <a:latin typeface="Arial"/>
              </a:rPr>
              <a:t>IDP · Kara-Cockpit</a:t>
            </a:r>
            <a:r>
              <a:rPr sz="900" b="0" i="0">
                <a:solidFill>
                  <a:srgbClr val="94A3B8"/>
                </a:solidFill>
                <a:latin typeface="Arial"/>
              </a:rPr>
              <a:t>   /   Abdulhamid Karatas · Kadir Atar · HS Pforzheim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911535" y="6409944"/>
            <a:ext cx="73152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spcBef>
                <a:spcPts val="0"/>
              </a:spcBef>
            </a:pPr>
            <a:r>
              <a:rPr sz="900" b="0" i="0">
                <a:solidFill>
                  <a:srgbClr val="94A3B8"/>
                </a:solidFill>
                <a:latin typeface="Arial"/>
              </a:rPr>
              <a:t>16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hspf-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591495" y="310896"/>
            <a:ext cx="1051560" cy="47907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548640" y="384048"/>
            <a:ext cx="73152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</a:pPr>
            <a:r>
              <a:rPr sz="1100" b="1" i="0">
                <a:solidFill>
                  <a:srgbClr val="E11D48"/>
                </a:solidFill>
                <a:latin typeface="Arial"/>
              </a:rPr>
              <a:t>08 – UMSETZUNG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713232"/>
            <a:ext cx="502920" cy="38100"/>
          </a:xfrm>
          <a:prstGeom prst="rect">
            <a:avLst/>
          </a:prstGeom>
          <a:solidFill>
            <a:srgbClr val="E11D4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548640" y="749808"/>
            <a:ext cx="10515600" cy="7315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</a:pPr>
            <a:r>
              <a:rPr sz="3000" b="1" i="0">
                <a:solidFill>
                  <a:srgbClr val="0F172A"/>
                </a:solidFill>
                <a:latin typeface="Arial"/>
              </a:rPr>
              <a:t>Mit Claude gebaut: Agent, Skills, Prompts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1481328"/>
            <a:ext cx="10881360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</a:pPr>
            <a:r>
              <a:rPr sz="1400" b="0" i="0">
                <a:solidFill>
                  <a:srgbClr val="475569"/>
                </a:solidFill>
                <a:latin typeface="Arial"/>
              </a:rPr>
              <a:t>Cockpit, Auswertungen und Dokumentation sind selbst mit Claude entstanden, gesteuert über klare Prompts und wiederverwendbare Skills.</a:t>
            </a:r>
          </a:p>
        </p:txBody>
      </p:sp>
      <p:pic>
        <p:nvPicPr>
          <p:cNvPr id="7" name="Picture 6" descr="claud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69043" y="1828800"/>
            <a:ext cx="5670890" cy="393192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7589520" y="1965960"/>
            <a:ext cx="402336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</a:pPr>
            <a:r>
              <a:rPr sz="1000" b="1" i="0">
                <a:solidFill>
                  <a:srgbClr val="E11D48"/>
                </a:solidFill>
                <a:latin typeface="Arial"/>
              </a:rPr>
              <a:t>BAUSTEINE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589520" y="2377440"/>
            <a:ext cx="4023360" cy="3657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45000"/>
              </a:lnSpc>
              <a:spcBef>
                <a:spcPts val="0"/>
              </a:spcBef>
            </a:pPr>
            <a:r>
              <a:rPr sz="1200" b="0" i="0">
                <a:solidFill>
                  <a:srgbClr val="475569"/>
                </a:solidFill>
                <a:latin typeface="Arial"/>
              </a:rPr>
              <a:t>•  Prompt – die klare Anweisung</a:t>
            </a:r>
          </a:p>
          <a:p>
            <a:pPr algn="l">
              <a:lnSpc>
                <a:spcPct val="145000"/>
              </a:lnSpc>
              <a:spcBef>
                <a:spcPts val="0"/>
              </a:spcBef>
            </a:pPr>
            <a:r>
              <a:rPr sz="1200" b="0" i="0">
                <a:solidFill>
                  <a:srgbClr val="475569"/>
                </a:solidFill>
                <a:latin typeface="Arial"/>
              </a:rPr>
              <a:t>•  Skills – wiederverwendbare Fähigkeiten</a:t>
            </a:r>
          </a:p>
          <a:p>
            <a:pPr algn="l">
              <a:lnSpc>
                <a:spcPct val="145000"/>
              </a:lnSpc>
              <a:spcBef>
                <a:spcPts val="0"/>
              </a:spcBef>
            </a:pPr>
            <a:r>
              <a:rPr sz="1200" b="0" i="0">
                <a:solidFill>
                  <a:srgbClr val="475569"/>
                </a:solidFill>
                <a:latin typeface="Arial"/>
              </a:rPr>
              <a:t>•  Cowork – geführt an Dateien arbeiten</a:t>
            </a:r>
          </a:p>
          <a:p>
            <a:pPr algn="l">
              <a:lnSpc>
                <a:spcPct val="145000"/>
              </a:lnSpc>
              <a:spcBef>
                <a:spcPts val="0"/>
              </a:spcBef>
            </a:pPr>
            <a:r>
              <a:rPr sz="1200" b="0" i="0">
                <a:solidFill>
                  <a:srgbClr val="475569"/>
                </a:solidFill>
                <a:latin typeface="Arial"/>
              </a:rPr>
              <a:t>•  Claude Code – weitgehend autonom</a:t>
            </a:r>
          </a:p>
          <a:p>
            <a:pPr algn="l">
              <a:lnSpc>
                <a:spcPct val="145000"/>
              </a:lnSpc>
              <a:spcBef>
                <a:spcPts val="0"/>
              </a:spcBef>
            </a:pPr>
            <a:r>
              <a:rPr sz="1200" b="0" i="0">
                <a:solidFill>
                  <a:srgbClr val="475569"/>
                </a:solidFill>
                <a:latin typeface="Arial"/>
              </a:rPr>
              <a:t>•  MCP-Konnektoren – Daten &amp; Werkzeuge</a:t>
            </a:r>
          </a:p>
        </p:txBody>
      </p:sp>
      <p:sp>
        <p:nvSpPr>
          <p:cNvPr id="10" name="Rectangle 9"/>
          <p:cNvSpPr/>
          <p:nvPr/>
        </p:nvSpPr>
        <p:spPr>
          <a:xfrm>
            <a:off x="548640" y="6355080"/>
            <a:ext cx="11094415" cy="127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548640" y="6409944"/>
            <a:ext cx="82296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</a:pPr>
            <a:r>
              <a:rPr sz="900" b="1" i="0">
                <a:solidFill>
                  <a:srgbClr val="0F172A"/>
                </a:solidFill>
                <a:latin typeface="Arial"/>
              </a:rPr>
              <a:t>IDP · Kara-Cockpit</a:t>
            </a:r>
            <a:r>
              <a:rPr sz="900" b="0" i="0">
                <a:solidFill>
                  <a:srgbClr val="94A3B8"/>
                </a:solidFill>
                <a:latin typeface="Arial"/>
              </a:rPr>
              <a:t>   /   Abdulhamid Karatas · Kadir Atar · HS Pforzheim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911535" y="6409944"/>
            <a:ext cx="73152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spcBef>
                <a:spcPts val="0"/>
              </a:spcBef>
            </a:pPr>
            <a:r>
              <a:rPr sz="900" b="0" i="0">
                <a:solidFill>
                  <a:srgbClr val="94A3B8"/>
                </a:solidFill>
                <a:latin typeface="Arial"/>
              </a:rPr>
              <a:t>17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hspf-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591495" y="310896"/>
            <a:ext cx="1051560" cy="47907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548640" y="384048"/>
            <a:ext cx="73152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</a:pPr>
            <a:r>
              <a:rPr sz="1100" b="1" i="0">
                <a:solidFill>
                  <a:srgbClr val="E11D48"/>
                </a:solidFill>
                <a:latin typeface="Arial"/>
              </a:rPr>
              <a:t>08 – VERKNÜPFUNGEN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713232"/>
            <a:ext cx="502920" cy="38100"/>
          </a:xfrm>
          <a:prstGeom prst="rect">
            <a:avLst/>
          </a:prstGeom>
          <a:solidFill>
            <a:srgbClr val="E11D4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548640" y="749808"/>
            <a:ext cx="10515600" cy="7315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</a:pPr>
            <a:r>
              <a:rPr sz="3000" b="1" i="0">
                <a:solidFill>
                  <a:srgbClr val="0F172A"/>
                </a:solidFill>
                <a:latin typeface="Arial"/>
              </a:rPr>
              <a:t>Wie Claude an die Systeme andockt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1481328"/>
            <a:ext cx="10881360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</a:pPr>
            <a:r>
              <a:rPr sz="1400" b="0" i="0">
                <a:solidFill>
                  <a:srgbClr val="475569"/>
                </a:solidFill>
                <a:latin typeface="Arial"/>
              </a:rPr>
              <a:t>Pro Fallbeispiel übernimmt Claude die Anbindung der passenden Konnektoren über das Model Context Protocol.</a:t>
            </a:r>
          </a:p>
        </p:txBody>
      </p:sp>
      <p:sp>
        <p:nvSpPr>
          <p:cNvPr id="7" name="Rectangle 6"/>
          <p:cNvSpPr/>
          <p:nvPr/>
        </p:nvSpPr>
        <p:spPr>
          <a:xfrm>
            <a:off x="566928" y="2331720"/>
            <a:ext cx="502920" cy="31750"/>
          </a:xfrm>
          <a:prstGeom prst="rect">
            <a:avLst/>
          </a:prstGeom>
          <a:solidFill>
            <a:srgbClr val="E11D4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566928" y="2441448"/>
            <a:ext cx="3503066" cy="5029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</a:pPr>
            <a:r>
              <a:rPr sz="2600" b="1" i="0">
                <a:solidFill>
                  <a:srgbClr val="E11D48"/>
                </a:solidFill>
                <a:latin typeface="Arial"/>
              </a:rPr>
              <a:t>01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66928" y="2953512"/>
            <a:ext cx="3503066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</a:pPr>
            <a:r>
              <a:rPr sz="1400" b="1" i="0">
                <a:solidFill>
                  <a:srgbClr val="0F172A"/>
                </a:solidFill>
                <a:latin typeface="Arial"/>
              </a:rPr>
              <a:t>Finanzen &amp; Buchhaltung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66928" y="3355848"/>
            <a:ext cx="3503066" cy="8229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</a:pPr>
            <a:r>
              <a:rPr sz="1150" b="0" i="0">
                <a:solidFill>
                  <a:srgbClr val="475569"/>
                </a:solidFill>
                <a:latin typeface="Arial"/>
              </a:rPr>
              <a:t>DATEV, lexoffice und Bank (FinTS) liefern Kosten, Buchungen und Liquidität.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344314" y="2331720"/>
            <a:ext cx="502920" cy="31750"/>
          </a:xfrm>
          <a:prstGeom prst="rect">
            <a:avLst/>
          </a:prstGeom>
          <a:solidFill>
            <a:srgbClr val="E11D4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4344314" y="2441448"/>
            <a:ext cx="3503066" cy="5029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</a:pPr>
            <a:r>
              <a:rPr sz="2600" b="1" i="0">
                <a:solidFill>
                  <a:srgbClr val="E11D48"/>
                </a:solidFill>
                <a:latin typeface="Arial"/>
              </a:rPr>
              <a:t>02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344314" y="2953512"/>
            <a:ext cx="3503066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</a:pPr>
            <a:r>
              <a:rPr sz="1400" b="1" i="0">
                <a:solidFill>
                  <a:srgbClr val="0F172A"/>
                </a:solidFill>
                <a:latin typeface="Arial"/>
              </a:rPr>
              <a:t>ERP &amp; Vertrieb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344314" y="3355848"/>
            <a:ext cx="3503066" cy="8229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</a:pPr>
            <a:r>
              <a:rPr sz="1150" b="0" i="0">
                <a:solidFill>
                  <a:srgbClr val="475569"/>
                </a:solidFill>
                <a:latin typeface="Arial"/>
              </a:rPr>
              <a:t>SAP/ERP und HubSpot liefern Aufträge, Umsatz und die Vertriebspipeline.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121700" y="2331720"/>
            <a:ext cx="502920" cy="31750"/>
          </a:xfrm>
          <a:prstGeom prst="rect">
            <a:avLst/>
          </a:prstGeom>
          <a:solidFill>
            <a:srgbClr val="E11D4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8121700" y="2441448"/>
            <a:ext cx="3503066" cy="5029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</a:pPr>
            <a:r>
              <a:rPr sz="2600" b="1" i="0">
                <a:solidFill>
                  <a:srgbClr val="E11D48"/>
                </a:solidFill>
                <a:latin typeface="Arial"/>
              </a:rPr>
              <a:t>03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121700" y="2953512"/>
            <a:ext cx="3503066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</a:pPr>
            <a:r>
              <a:rPr sz="1400" b="1" i="0">
                <a:solidFill>
                  <a:srgbClr val="0F172A"/>
                </a:solidFill>
                <a:latin typeface="Arial"/>
              </a:rPr>
              <a:t>Personal &amp; Dateien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121700" y="3355848"/>
            <a:ext cx="3503066" cy="8229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</a:pPr>
            <a:r>
              <a:rPr sz="1150" b="0" i="0">
                <a:solidFill>
                  <a:srgbClr val="475569"/>
                </a:solidFill>
                <a:latin typeface="Arial"/>
              </a:rPr>
              <a:t>Personio sowie Excel- und CSV-Dateien ergänzen Personal- und Zusatzdaten.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66928" y="5897880"/>
            <a:ext cx="105156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</a:pPr>
            <a:r>
              <a:rPr sz="950" b="0" i="1">
                <a:solidFill>
                  <a:srgbClr val="94A3B8"/>
                </a:solidFill>
                <a:latin typeface="Arial"/>
              </a:rPr>
              <a:t>Anbindung über das Model Context Protocol (Anthropic 2024); Demo arbeitet mit anonymisierten Beispieldaten.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48640" y="6355080"/>
            <a:ext cx="11094415" cy="127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548640" y="6409944"/>
            <a:ext cx="82296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</a:pPr>
            <a:r>
              <a:rPr sz="900" b="1" i="0">
                <a:solidFill>
                  <a:srgbClr val="0F172A"/>
                </a:solidFill>
                <a:latin typeface="Arial"/>
              </a:rPr>
              <a:t>IDP · Kara-Cockpit</a:t>
            </a:r>
            <a:r>
              <a:rPr sz="900" b="0" i="0">
                <a:solidFill>
                  <a:srgbClr val="94A3B8"/>
                </a:solidFill>
                <a:latin typeface="Arial"/>
              </a:rPr>
              <a:t>   /   Abdulhamid Karatas · Kadir Atar · HS Pforzheim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911535" y="6409944"/>
            <a:ext cx="73152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spcBef>
                <a:spcPts val="0"/>
              </a:spcBef>
            </a:pPr>
            <a:r>
              <a:rPr sz="900" b="0" i="0">
                <a:solidFill>
                  <a:srgbClr val="94A3B8"/>
                </a:solidFill>
                <a:latin typeface="Arial"/>
              </a:rPr>
              <a:t>18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hspf-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591495" y="310896"/>
            <a:ext cx="1051560" cy="47907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548640" y="384048"/>
            <a:ext cx="73152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</a:pPr>
            <a:r>
              <a:rPr sz="1100" b="1" i="0">
                <a:solidFill>
                  <a:srgbClr val="E11D48"/>
                </a:solidFill>
                <a:latin typeface="Arial"/>
              </a:rPr>
              <a:t>08 – VORGEHEN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713232"/>
            <a:ext cx="502920" cy="38100"/>
          </a:xfrm>
          <a:prstGeom prst="rect">
            <a:avLst/>
          </a:prstGeom>
          <a:solidFill>
            <a:srgbClr val="E11D4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548640" y="749808"/>
            <a:ext cx="10515600" cy="7315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</a:pPr>
            <a:r>
              <a:rPr sz="3000" b="1" i="0">
                <a:solidFill>
                  <a:srgbClr val="0F172A"/>
                </a:solidFill>
                <a:latin typeface="Arial"/>
              </a:rPr>
              <a:t>So sind wir vorgegangen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1481328"/>
            <a:ext cx="10881360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</a:pPr>
            <a:r>
              <a:rPr sz="1400" b="0" i="0">
                <a:solidFill>
                  <a:srgbClr val="475569"/>
                </a:solidFill>
                <a:latin typeface="Arial"/>
              </a:rPr>
              <a:t>Von der Recherche bis zur fertigen Abgabe in nachvollziehbaren Schritten, jeder mit menschlicher Kontrolle.</a:t>
            </a:r>
          </a:p>
        </p:txBody>
      </p:sp>
      <p:sp>
        <p:nvSpPr>
          <p:cNvPr id="7" name="Rectangle 6"/>
          <p:cNvSpPr/>
          <p:nvPr/>
        </p:nvSpPr>
        <p:spPr>
          <a:xfrm>
            <a:off x="566928" y="2331720"/>
            <a:ext cx="502920" cy="31750"/>
          </a:xfrm>
          <a:prstGeom prst="rect">
            <a:avLst/>
          </a:prstGeom>
          <a:solidFill>
            <a:srgbClr val="E11D4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566928" y="2441448"/>
            <a:ext cx="2558719" cy="5029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</a:pPr>
            <a:r>
              <a:rPr sz="2600" b="1" i="0">
                <a:solidFill>
                  <a:srgbClr val="E11D48"/>
                </a:solidFill>
                <a:latin typeface="Arial"/>
              </a:rPr>
              <a:t>01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66928" y="2953512"/>
            <a:ext cx="2558719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</a:pPr>
            <a:r>
              <a:rPr sz="1400" b="1" i="0">
                <a:solidFill>
                  <a:srgbClr val="0F172A"/>
                </a:solidFill>
                <a:latin typeface="Arial"/>
              </a:rPr>
              <a:t>Recherche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66928" y="3355848"/>
            <a:ext cx="2558719" cy="8229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</a:pPr>
            <a:r>
              <a:rPr sz="1150" b="0" i="0">
                <a:solidFill>
                  <a:srgbClr val="475569"/>
                </a:solidFill>
                <a:latin typeface="Arial"/>
              </a:rPr>
              <a:t>Grundlagen zu KI und Controlling sichten und mit Harvard-Quellen belegen.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399967" y="2331720"/>
            <a:ext cx="502920" cy="31750"/>
          </a:xfrm>
          <a:prstGeom prst="rect">
            <a:avLst/>
          </a:prstGeom>
          <a:solidFill>
            <a:srgbClr val="E11D4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3399967" y="2441448"/>
            <a:ext cx="2558719" cy="5029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</a:pPr>
            <a:r>
              <a:rPr sz="2600" b="1" i="0">
                <a:solidFill>
                  <a:srgbClr val="E11D48"/>
                </a:solidFill>
                <a:latin typeface="Arial"/>
              </a:rPr>
              <a:t>02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399967" y="2953512"/>
            <a:ext cx="2558719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</a:pPr>
            <a:r>
              <a:rPr sz="1400" b="1" i="0">
                <a:solidFill>
                  <a:srgbClr val="0F172A"/>
                </a:solidFill>
                <a:latin typeface="Arial"/>
              </a:rPr>
              <a:t>Prototyp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399967" y="3355848"/>
            <a:ext cx="2558719" cy="8229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</a:pPr>
            <a:r>
              <a:rPr sz="1150" b="0" i="0">
                <a:solidFill>
                  <a:srgbClr val="475569"/>
                </a:solidFill>
                <a:latin typeface="Arial"/>
              </a:rPr>
              <a:t>Cockpit und drei Fallbeispiele als interaktive Website umsetzen.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233006" y="2331720"/>
            <a:ext cx="502920" cy="31750"/>
          </a:xfrm>
          <a:prstGeom prst="rect">
            <a:avLst/>
          </a:prstGeom>
          <a:solidFill>
            <a:srgbClr val="E11D4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6233006" y="2441448"/>
            <a:ext cx="2558719" cy="5029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</a:pPr>
            <a:r>
              <a:rPr sz="2600" b="1" i="0">
                <a:solidFill>
                  <a:srgbClr val="E11D48"/>
                </a:solidFill>
                <a:latin typeface="Arial"/>
              </a:rPr>
              <a:t>03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233006" y="2953512"/>
            <a:ext cx="2558719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</a:pPr>
            <a:r>
              <a:rPr sz="1400" b="1" i="0">
                <a:solidFill>
                  <a:srgbClr val="0F172A"/>
                </a:solidFill>
                <a:latin typeface="Arial"/>
              </a:rPr>
              <a:t>Dokumentation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233006" y="3355848"/>
            <a:ext cx="2558719" cy="8229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</a:pPr>
            <a:r>
              <a:rPr sz="1150" b="0" i="0">
                <a:solidFill>
                  <a:srgbClr val="475569"/>
                </a:solidFill>
                <a:latin typeface="Arial"/>
              </a:rPr>
              <a:t>Theorie und Praxis im Verhältnis 50/50 als wissenschaftliche Arbeit verfassen.</a:t>
            </a:r>
          </a:p>
        </p:txBody>
      </p:sp>
      <p:sp>
        <p:nvSpPr>
          <p:cNvPr id="19" name="Rectangle 18"/>
          <p:cNvSpPr/>
          <p:nvPr/>
        </p:nvSpPr>
        <p:spPr>
          <a:xfrm>
            <a:off x="9066045" y="2331720"/>
            <a:ext cx="502920" cy="31750"/>
          </a:xfrm>
          <a:prstGeom prst="rect">
            <a:avLst/>
          </a:prstGeom>
          <a:solidFill>
            <a:srgbClr val="E11D4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9066045" y="2441448"/>
            <a:ext cx="2558719" cy="5029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</a:pPr>
            <a:r>
              <a:rPr sz="2600" b="1" i="0">
                <a:solidFill>
                  <a:srgbClr val="E11D48"/>
                </a:solidFill>
                <a:latin typeface="Arial"/>
              </a:rPr>
              <a:t>04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066045" y="2953512"/>
            <a:ext cx="2558719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</a:pPr>
            <a:r>
              <a:rPr sz="1400" b="1" i="0">
                <a:solidFill>
                  <a:srgbClr val="0F172A"/>
                </a:solidFill>
                <a:latin typeface="Arial"/>
              </a:rPr>
              <a:t>Prüfung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066045" y="3355848"/>
            <a:ext cx="2558719" cy="8229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</a:pPr>
            <a:r>
              <a:rPr sz="1150" b="0" i="0">
                <a:solidFill>
                  <a:srgbClr val="475569"/>
                </a:solidFill>
                <a:latin typeface="Arial"/>
              </a:rPr>
              <a:t>Ergebnisse, Quellen und Zahlen gegenprüfen und freigeben.</a:t>
            </a:r>
          </a:p>
        </p:txBody>
      </p:sp>
      <p:sp>
        <p:nvSpPr>
          <p:cNvPr id="23" name="Rectangle 22"/>
          <p:cNvSpPr/>
          <p:nvPr/>
        </p:nvSpPr>
        <p:spPr>
          <a:xfrm>
            <a:off x="548640" y="6355080"/>
            <a:ext cx="11094415" cy="127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548640" y="6409944"/>
            <a:ext cx="82296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</a:pPr>
            <a:r>
              <a:rPr sz="900" b="1" i="0">
                <a:solidFill>
                  <a:srgbClr val="0F172A"/>
                </a:solidFill>
                <a:latin typeface="Arial"/>
              </a:rPr>
              <a:t>IDP · Kara-Cockpit</a:t>
            </a:r>
            <a:r>
              <a:rPr sz="900" b="0" i="0">
                <a:solidFill>
                  <a:srgbClr val="94A3B8"/>
                </a:solidFill>
                <a:latin typeface="Arial"/>
              </a:rPr>
              <a:t>   /   Abdulhamid Karatas · Kadir Atar · HS Pforzheim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0911535" y="6409944"/>
            <a:ext cx="73152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spcBef>
                <a:spcPts val="0"/>
              </a:spcBef>
            </a:pPr>
            <a:r>
              <a:rPr sz="900" b="0" i="0">
                <a:solidFill>
                  <a:srgbClr val="94A3B8"/>
                </a:solidFill>
                <a:latin typeface="Arial"/>
              </a:rPr>
              <a:t>19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hspf-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591495" y="310896"/>
            <a:ext cx="1051560" cy="47907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548640" y="384048"/>
            <a:ext cx="73152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</a:pPr>
            <a:r>
              <a:rPr sz="1100" b="1" i="0">
                <a:solidFill>
                  <a:srgbClr val="E11D48"/>
                </a:solidFill>
                <a:latin typeface="Arial"/>
              </a:rPr>
              <a:t>09 – BEWERTUNG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713232"/>
            <a:ext cx="502920" cy="38100"/>
          </a:xfrm>
          <a:prstGeom prst="rect">
            <a:avLst/>
          </a:prstGeom>
          <a:solidFill>
            <a:srgbClr val="E11D4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548640" y="749808"/>
            <a:ext cx="10515600" cy="7315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</a:pPr>
            <a:r>
              <a:rPr sz="3000" b="1" i="0">
                <a:solidFill>
                  <a:srgbClr val="0F172A"/>
                </a:solidFill>
                <a:latin typeface="Arial"/>
              </a:rPr>
              <a:t>Nutzen und Grenzen ehrlich benannt</a:t>
            </a:r>
          </a:p>
        </p:txBody>
      </p:sp>
      <p:sp>
        <p:nvSpPr>
          <p:cNvPr id="6" name="Rectangle 5"/>
          <p:cNvSpPr/>
          <p:nvPr/>
        </p:nvSpPr>
        <p:spPr>
          <a:xfrm>
            <a:off x="566928" y="2194560"/>
            <a:ext cx="5349240" cy="2651760"/>
          </a:xfrm>
          <a:prstGeom prst="rect">
            <a:avLst/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566928" y="2194560"/>
            <a:ext cx="5349240" cy="38100"/>
          </a:xfrm>
          <a:prstGeom prst="rect">
            <a:avLst/>
          </a:prstGeom>
          <a:solidFill>
            <a:srgbClr val="E11D4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768096" y="2377440"/>
            <a:ext cx="498348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</a:pPr>
            <a:r>
              <a:rPr sz="1100" b="1" i="0">
                <a:solidFill>
                  <a:srgbClr val="E11D48"/>
                </a:solidFill>
                <a:latin typeface="Arial"/>
              </a:rPr>
              <a:t>NUTZEN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68096" y="2816352"/>
            <a:ext cx="4983480" cy="19202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50000"/>
              </a:lnSpc>
              <a:spcBef>
                <a:spcPts val="0"/>
              </a:spcBef>
            </a:pPr>
            <a:r>
              <a:rPr sz="1250" b="0" i="0">
                <a:solidFill>
                  <a:srgbClr val="0F172A"/>
                </a:solidFill>
                <a:latin typeface="Arial"/>
              </a:rPr>
              <a:t>•  schneller Überblick über verteilte Daten</a:t>
            </a:r>
          </a:p>
          <a:p>
            <a:pPr algn="l">
              <a:lnSpc>
                <a:spcPct val="150000"/>
              </a:lnSpc>
              <a:spcBef>
                <a:spcPts val="0"/>
              </a:spcBef>
            </a:pPr>
            <a:r>
              <a:rPr sz="1250" b="0" i="0">
                <a:solidFill>
                  <a:srgbClr val="0F172A"/>
                </a:solidFill>
                <a:latin typeface="Arial"/>
              </a:rPr>
              <a:t>•  frühe Erkennung von Trends und Risiken</a:t>
            </a:r>
          </a:p>
          <a:p>
            <a:pPr algn="l">
              <a:lnSpc>
                <a:spcPct val="150000"/>
              </a:lnSpc>
              <a:spcBef>
                <a:spcPts val="0"/>
              </a:spcBef>
            </a:pPr>
            <a:r>
              <a:rPr sz="1250" b="0" i="0">
                <a:solidFill>
                  <a:srgbClr val="0F172A"/>
                </a:solidFill>
                <a:latin typeface="Arial"/>
              </a:rPr>
              <a:t>•  nachvollziehbare Begründungen</a:t>
            </a:r>
          </a:p>
          <a:p>
            <a:pPr algn="l">
              <a:lnSpc>
                <a:spcPct val="150000"/>
              </a:lnSpc>
              <a:spcBef>
                <a:spcPts val="0"/>
              </a:spcBef>
            </a:pPr>
            <a:r>
              <a:rPr sz="1250" b="0" i="0">
                <a:solidFill>
                  <a:srgbClr val="0F172A"/>
                </a:solidFill>
                <a:latin typeface="Arial"/>
              </a:rPr>
              <a:t>•  Einstieg ohne großes IT-Projekt</a:t>
            </a:r>
          </a:p>
        </p:txBody>
      </p:sp>
      <p:sp>
        <p:nvSpPr>
          <p:cNvPr id="10" name="Rectangle 9"/>
          <p:cNvSpPr/>
          <p:nvPr/>
        </p:nvSpPr>
        <p:spPr>
          <a:xfrm>
            <a:off x="6309360" y="2194560"/>
            <a:ext cx="5349240" cy="2651760"/>
          </a:xfrm>
          <a:prstGeom prst="rect">
            <a:avLst/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6309360" y="2194560"/>
            <a:ext cx="5349240" cy="38100"/>
          </a:xfrm>
          <a:prstGeom prst="rect">
            <a:avLst/>
          </a:prstGeom>
          <a:solidFill>
            <a:srgbClr val="94A3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6510528" y="2377440"/>
            <a:ext cx="498348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</a:pPr>
            <a:r>
              <a:rPr sz="1100" b="1" i="0">
                <a:solidFill>
                  <a:srgbClr val="475569"/>
                </a:solidFill>
                <a:latin typeface="Arial"/>
              </a:rPr>
              <a:t>GRENZEN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510528" y="2816352"/>
            <a:ext cx="4983480" cy="19202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50000"/>
              </a:lnSpc>
              <a:spcBef>
                <a:spcPts val="0"/>
              </a:spcBef>
            </a:pPr>
            <a:r>
              <a:rPr sz="1250" b="0" i="0">
                <a:solidFill>
                  <a:srgbClr val="475569"/>
                </a:solidFill>
                <a:latin typeface="Arial"/>
              </a:rPr>
              <a:t>•  Qualität hängt von den Daten ab</a:t>
            </a:r>
          </a:p>
          <a:p>
            <a:pPr algn="l">
              <a:lnSpc>
                <a:spcPct val="150000"/>
              </a:lnSpc>
              <a:spcBef>
                <a:spcPts val="0"/>
              </a:spcBef>
            </a:pPr>
            <a:r>
              <a:rPr sz="1250" b="0" i="0">
                <a:solidFill>
                  <a:srgbClr val="475569"/>
                </a:solidFill>
                <a:latin typeface="Arial"/>
              </a:rPr>
              <a:t>•  KI kann sich irren – Prüfung nötig</a:t>
            </a:r>
          </a:p>
          <a:p>
            <a:pPr algn="l">
              <a:lnSpc>
                <a:spcPct val="150000"/>
              </a:lnSpc>
              <a:spcBef>
                <a:spcPts val="0"/>
              </a:spcBef>
            </a:pPr>
            <a:r>
              <a:rPr sz="1250" b="0" i="0">
                <a:solidFill>
                  <a:srgbClr val="475569"/>
                </a:solidFill>
                <a:latin typeface="Arial"/>
              </a:rPr>
              <a:t>•  Datenschutz erfordert klare Regeln</a:t>
            </a:r>
          </a:p>
          <a:p>
            <a:pPr algn="l">
              <a:lnSpc>
                <a:spcPct val="150000"/>
              </a:lnSpc>
              <a:spcBef>
                <a:spcPts val="0"/>
              </a:spcBef>
            </a:pPr>
            <a:r>
              <a:rPr sz="1250" b="0" i="0">
                <a:solidFill>
                  <a:srgbClr val="475569"/>
                </a:solidFill>
                <a:latin typeface="Arial"/>
              </a:rPr>
              <a:t>•  kein Ersatz für Fachwissen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48640" y="6355080"/>
            <a:ext cx="11094415" cy="127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548640" y="6409944"/>
            <a:ext cx="82296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</a:pPr>
            <a:r>
              <a:rPr sz="900" b="1" i="0">
                <a:solidFill>
                  <a:srgbClr val="0F172A"/>
                </a:solidFill>
                <a:latin typeface="Arial"/>
              </a:rPr>
              <a:t>IDP · Kara-Cockpit</a:t>
            </a:r>
            <a:r>
              <a:rPr sz="900" b="0" i="0">
                <a:solidFill>
                  <a:srgbClr val="94A3B8"/>
                </a:solidFill>
                <a:latin typeface="Arial"/>
              </a:rPr>
              <a:t>   /   Abdulhamid Karatas · Kadir Atar · HS Pforzheim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911535" y="6409944"/>
            <a:ext cx="73152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spcBef>
                <a:spcPts val="0"/>
              </a:spcBef>
            </a:pPr>
            <a:r>
              <a:rPr sz="900" b="0" i="0">
                <a:solidFill>
                  <a:srgbClr val="94A3B8"/>
                </a:solidFill>
                <a:latin typeface="Arial"/>
              </a:rPr>
              <a:t>20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4480560" cy="6858000"/>
          </a:xfrm>
          <a:prstGeom prst="rect">
            <a:avLst/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566928"/>
            <a:ext cx="36576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</a:pPr>
            <a:r>
              <a:rPr sz="1200" b="1" i="0">
                <a:solidFill>
                  <a:srgbClr val="E11D48"/>
                </a:solidFill>
                <a:latin typeface="Arial"/>
              </a:rPr>
              <a:t>FAZIT &amp; AUSBLICK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828800"/>
            <a:ext cx="3657600" cy="2743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2600" b="1" i="0">
                <a:solidFill>
                  <a:srgbClr val="FFFFFF"/>
                </a:solidFill>
                <a:latin typeface="Arial"/>
              </a:rPr>
              <a:t>KI kann kleine</a:t>
            </a:r>
          </a:p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2600" b="1" i="0">
                <a:solidFill>
                  <a:srgbClr val="FFFFFF"/>
                </a:solidFill>
                <a:latin typeface="Arial"/>
              </a:rPr>
              <a:t>Unternehmen</a:t>
            </a:r>
          </a:p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2600" b="1" i="0">
                <a:solidFill>
                  <a:srgbClr val="FFFFFF"/>
                </a:solidFill>
                <a:latin typeface="Arial"/>
              </a:rPr>
              <a:t>wirklich</a:t>
            </a:r>
          </a:p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2600" b="1" i="0">
                <a:solidFill>
                  <a:srgbClr val="E11D48"/>
                </a:solidFill>
                <a:latin typeface="Arial"/>
              </a:rPr>
              <a:t>steuern helfen.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5486400"/>
            <a:ext cx="36576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</a:pPr>
            <a:r>
              <a:rPr sz="1300" b="1" i="0">
                <a:solidFill>
                  <a:srgbClr val="FFFFFF"/>
                </a:solidFill>
                <a:latin typeface="Arial"/>
              </a:rPr>
              <a:t>Vielen Dank.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5806440"/>
            <a:ext cx="36576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</a:pPr>
            <a:r>
              <a:rPr sz="1050" b="0" i="0">
                <a:solidFill>
                  <a:srgbClr val="94A3B8"/>
                </a:solidFill>
                <a:latin typeface="Arial"/>
              </a:rPr>
              <a:t>Fragen sind willkommen.</a:t>
            </a:r>
          </a:p>
        </p:txBody>
      </p:sp>
      <p:pic>
        <p:nvPicPr>
          <p:cNvPr id="7" name="Picture 6" descr="hspf-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591495" y="310896"/>
            <a:ext cx="1051560" cy="47907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4937760" y="457200"/>
            <a:ext cx="64008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</a:pPr>
            <a:r>
              <a:rPr sz="1100" b="1" i="0">
                <a:solidFill>
                  <a:srgbClr val="E11D48"/>
                </a:solidFill>
                <a:latin typeface="Arial"/>
              </a:rPr>
              <a:t>IDP · KARA-COCKPIT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937760" y="1737360"/>
            <a:ext cx="6949440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</a:pPr>
            <a:r>
              <a:rPr sz="2200" b="1" i="0">
                <a:solidFill>
                  <a:srgbClr val="0F172A"/>
                </a:solidFill>
                <a:latin typeface="Arial"/>
              </a:rPr>
              <a:t>Was bleibt</a:t>
            </a:r>
          </a:p>
        </p:txBody>
      </p:sp>
      <p:sp>
        <p:nvSpPr>
          <p:cNvPr id="10" name="Rectangle 9"/>
          <p:cNvSpPr/>
          <p:nvPr/>
        </p:nvSpPr>
        <p:spPr>
          <a:xfrm>
            <a:off x="4956048" y="2286000"/>
            <a:ext cx="548640" cy="38100"/>
          </a:xfrm>
          <a:prstGeom prst="rect">
            <a:avLst/>
          </a:prstGeom>
          <a:solidFill>
            <a:srgbClr val="E11D4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4937760" y="2514600"/>
            <a:ext cx="6949440" cy="23774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55000"/>
              </a:lnSpc>
              <a:spcBef>
                <a:spcPts val="0"/>
              </a:spcBef>
            </a:pPr>
            <a:r>
              <a:rPr sz="1350" b="0" i="0">
                <a:solidFill>
                  <a:srgbClr val="475569"/>
                </a:solidFill>
                <a:latin typeface="Arial"/>
              </a:rPr>
              <a:t>•  Klein starten, klare Kennzahlen wählen</a:t>
            </a:r>
          </a:p>
          <a:p>
            <a:pPr algn="l">
              <a:lnSpc>
                <a:spcPct val="155000"/>
              </a:lnSpc>
              <a:spcBef>
                <a:spcPts val="0"/>
              </a:spcBef>
            </a:pPr>
            <a:r>
              <a:rPr sz="1350" b="0" i="0">
                <a:solidFill>
                  <a:srgbClr val="475569"/>
                </a:solidFill>
                <a:latin typeface="Arial"/>
              </a:rPr>
              <a:t>•  Datenquellen kontrolliert anbinden</a:t>
            </a:r>
          </a:p>
          <a:p>
            <a:pPr algn="l">
              <a:lnSpc>
                <a:spcPct val="155000"/>
              </a:lnSpc>
              <a:spcBef>
                <a:spcPts val="0"/>
              </a:spcBef>
            </a:pPr>
            <a:r>
              <a:rPr sz="1350" b="0" i="0">
                <a:solidFill>
                  <a:srgbClr val="475569"/>
                </a:solidFill>
                <a:latin typeface="Arial"/>
              </a:rPr>
              <a:t>•  Datenschutz von Anfang an mitdenken</a:t>
            </a:r>
          </a:p>
          <a:p>
            <a:pPr algn="l">
              <a:lnSpc>
                <a:spcPct val="155000"/>
              </a:lnSpc>
              <a:spcBef>
                <a:spcPts val="0"/>
              </a:spcBef>
            </a:pPr>
            <a:r>
              <a:rPr sz="1350" b="0" i="0">
                <a:solidFill>
                  <a:srgbClr val="475569"/>
                </a:solidFill>
                <a:latin typeface="Arial"/>
              </a:rPr>
              <a:t>•  Verantwortung beim Menschen lassen</a:t>
            </a:r>
          </a:p>
          <a:p>
            <a:pPr algn="l">
              <a:lnSpc>
                <a:spcPct val="155000"/>
              </a:lnSpc>
              <a:spcBef>
                <a:spcPts val="0"/>
              </a:spcBef>
            </a:pPr>
            <a:r>
              <a:rPr sz="1350" b="0" i="0">
                <a:solidFill>
                  <a:srgbClr val="475569"/>
                </a:solidFill>
                <a:latin typeface="Arial"/>
              </a:rPr>
              <a:t>•  Ausblick: echte Schnittstellen statt Demo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937760" y="5852160"/>
            <a:ext cx="694944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</a:pPr>
            <a:r>
              <a:rPr sz="1100" b="1" i="0">
                <a:solidFill>
                  <a:srgbClr val="0F172A"/>
                </a:solidFill>
                <a:latin typeface="Arial"/>
              </a:rPr>
              <a:t>Abdulhamid Karatas · Kadir Atar</a:t>
            </a:r>
            <a:r>
              <a:rPr sz="1100" b="0" i="0">
                <a:solidFill>
                  <a:srgbClr val="94A3B8"/>
                </a:solidFill>
                <a:latin typeface="Arial"/>
              </a:rPr>
              <a:t>    Betreuung: Prof. Dr. Bettina C. K. Binder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3669</Words>
  <Application>Microsoft Office PowerPoint</Application>
  <PresentationFormat>Breitbild</PresentationFormat>
  <Paragraphs>413</Paragraphs>
  <Slides>21</Slides>
  <Notes>21</Notes>
  <HiddenSlides>0</HiddenSlides>
  <MMClips>0</MMClips>
  <ScaleCrop>false</ScaleCrop>
  <HeadingPairs>
    <vt:vector size="6" baseType="variant">
      <vt:variant>
        <vt:lpstr>Verwendete Schriftarten</vt:lpstr>
      </vt:variant>
      <vt:variant>
        <vt:i4>2</vt:i4>
      </vt:variant>
      <vt:variant>
        <vt:lpstr>Design</vt:lpstr>
      </vt:variant>
      <vt:variant>
        <vt:i4>1</vt:i4>
      </vt:variant>
      <vt:variant>
        <vt:lpstr>Folientitel</vt:lpstr>
      </vt:variant>
      <vt:variant>
        <vt:i4>21</vt:i4>
      </vt:variant>
    </vt:vector>
  </HeadingPairs>
  <TitlesOfParts>
    <vt:vector size="24" baseType="lpstr">
      <vt:lpstr>Arial</vt:lpstr>
      <vt:lpstr>Calibri</vt:lpstr>
      <vt:lpstr>Office Theme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Abdulhamid Karatas</cp:lastModifiedBy>
  <cp:revision>1</cp:revision>
  <dcterms:created xsi:type="dcterms:W3CDTF">2013-01-27T09:14:16Z</dcterms:created>
  <dcterms:modified xsi:type="dcterms:W3CDTF">2026-06-13T11:51:58Z</dcterms:modified>
  <cp:category/>
</cp:coreProperties>
</file>