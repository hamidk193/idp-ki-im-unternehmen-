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Ich präsentiere die Make-or-Buy-Entscheidung im Produktionscontrolling. Dabei geht es um die Frage, ob ein Unternehmen ein Teil, eine Baugruppe oder eine Dienstleistung selbst herstellt oder von einem Lieferanten bezieht. Ziel ist es, Kosten zu senken, knappe Kapazitäten optimal zu nutzen und Kernkompetenzen zu sichern – also eine fundierte Entscheidung statt Bauchgefühl.
Quantitativ unterscheidet man drei Fälle. Kurzfristig ohne Engpass sind Fixkosten nicht entscheidungsrelevant, weil sie ohnehin anfallen; man vergleicht nur die variablen Stückkosten mit dem Fremdbezugspreis. Ist die Eigenfertigung variabel günstiger, spricht das für Make. Bei einem Engpass reicht das nicht: Dann kommen Opportunitätskosten hinzu, also der entgangene Deckungsbeitrag der verdrängten Alternative. Eigenfertigung lohnt nur, wenn variable Kosten plus Opportunitätskosten unter dem Fremdbezugspreis liegen. Langfristig sind Fixkosten und Anlagen veränderbar; deshalb rechnet man mit Vollkosten und einer Investitionsrechnung, typischerweise über einen Kapitalwertvergleich.
Eine reine Kostenrechnung genügt aber nicht. Über die Nutzwertanalyse fließen qualitative Kriterien ein: Für die Eigenfertigung sprechen Qualität und Know-how, der Schutz von Patenten, Versorgungssicherheit und die strategische Kernkompetenz. Für den Fremdbezug sprechen Kostenvorteile durch Skaleneffekte, kürzere Lieferzeiten, Spezialwissen des Lieferanten, Flexibilität ohne Kapitalbindung sowie Risikotransfer und Fokus aufs Kerngeschäft.
Das typische Vorgehen läuft von der Bedarfsanalyse über die Kostenanalyse und die Nutzwertanalyse zum Strategie-Check, zur Entscheidung und schließlich zum laufenden Monitoring.
Zusammenfassend: Die quantitativen Regeln liefern die Preis-Untergrenze, die qualitativen Kriterien entscheiden langfristig. Make-or-Buy ist damit eine typische Controlling-Entscheidung, weil sie Kostenrechnung, Kapazitätssteuerung und strategische Bewertung verbindet.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E2761"/>
          </a:solidFill>
          <a:ln/>
        </p:spPr>
      </p:sp>
      <p:sp>
        <p:nvSpPr>
          <p:cNvPr id="3" name="Shape 1"/>
          <p:cNvSpPr/>
          <p:nvPr/>
        </p:nvSpPr>
        <p:spPr>
          <a:xfrm>
            <a:off x="0" y="0"/>
            <a:ext cx="128016" cy="777240"/>
          </a:xfrm>
          <a:prstGeom prst="rect">
            <a:avLst/>
          </a:prstGeom>
          <a:solidFill>
            <a:srgbClr val="2EA86A"/>
          </a:solidFill>
          <a:ln/>
        </p:spPr>
      </p:sp>
      <p:sp>
        <p:nvSpPr>
          <p:cNvPr id="4" name="Text 2"/>
          <p:cNvSpPr/>
          <p:nvPr/>
        </p:nvSpPr>
        <p:spPr>
          <a:xfrm>
            <a:off x="411480" y="0"/>
            <a:ext cx="8778240" cy="777240"/>
          </a:xfrm>
          <a:prstGeom prst="rect">
            <a:avLst/>
          </a:prstGeom>
          <a:noFill/>
          <a:ln/>
        </p:spPr>
        <p:txBody>
          <a:bodyPr wrap="square" lIns="0" tIns="0" rIns="0" bIns="0" rtlCol="0" anchor="ctr"/>
          <a:lstStyle/>
          <a:p>
            <a:pPr algn="l" indent="0" marL="0">
              <a:buNone/>
            </a:pPr>
            <a:r>
              <a:rPr lang="en-US" sz="2300" b="1" dirty="0">
                <a:solidFill>
                  <a:srgbClr val="FFFFFF"/>
                </a:solidFill>
                <a:latin typeface="Georgia" pitchFamily="34" charset="0"/>
                <a:ea typeface="Georgia" pitchFamily="34" charset="-122"/>
                <a:cs typeface="Georgia" pitchFamily="34" charset="-120"/>
              </a:rPr>
              <a:t>Make-or-Buy-Entscheidung im Produktionscontrolling</a:t>
            </a:r>
            <a:endParaRPr lang="en-US" sz="2300" dirty="0"/>
          </a:p>
        </p:txBody>
      </p:sp>
      <p:sp>
        <p:nvSpPr>
          <p:cNvPr id="5" name="Text 3"/>
          <p:cNvSpPr/>
          <p:nvPr/>
        </p:nvSpPr>
        <p:spPr>
          <a:xfrm>
            <a:off x="9235440" y="0"/>
            <a:ext cx="2743200" cy="777240"/>
          </a:xfrm>
          <a:prstGeom prst="rect">
            <a:avLst/>
          </a:prstGeom>
          <a:noFill/>
          <a:ln/>
        </p:spPr>
        <p:txBody>
          <a:bodyPr wrap="square" lIns="0" tIns="0" rIns="0" bIns="0" rtlCol="0" anchor="ctr"/>
          <a:lstStyle/>
          <a:p>
            <a:pPr algn="r" indent="0" marL="0">
              <a:buNone/>
            </a:pPr>
            <a:r>
              <a:rPr lang="en-US" sz="1050" i="1" dirty="0">
                <a:solidFill>
                  <a:srgbClr val="B9C5E6"/>
                </a:solidFill>
              </a:rPr>
              <a:t>Produktionscontrolling · Abschlussgespräch</a:t>
            </a:r>
            <a:endParaRPr lang="en-US" sz="1050" dirty="0"/>
          </a:p>
        </p:txBody>
      </p:sp>
      <p:sp>
        <p:nvSpPr>
          <p:cNvPr id="6" name="Text 4"/>
          <p:cNvSpPr/>
          <p:nvPr/>
        </p:nvSpPr>
        <p:spPr>
          <a:xfrm>
            <a:off x="411480" y="932688"/>
            <a:ext cx="5486400" cy="201168"/>
          </a:xfrm>
          <a:prstGeom prst="rect">
            <a:avLst/>
          </a:prstGeom>
          <a:noFill/>
          <a:ln/>
        </p:spPr>
        <p:txBody>
          <a:bodyPr wrap="square" lIns="0" tIns="0" rIns="0" bIns="0" rtlCol="0" anchor="t"/>
          <a:lstStyle/>
          <a:p>
            <a:pPr algn="l" indent="0" marL="0">
              <a:buNone/>
            </a:pPr>
            <a:r>
              <a:rPr lang="en-US" sz="950" b="1" spc="150" kern="0" dirty="0">
                <a:solidFill>
                  <a:srgbClr val="2EA86A"/>
                </a:solidFill>
              </a:rPr>
              <a:t>EINFÜHRUNG</a:t>
            </a:r>
            <a:endParaRPr lang="en-US" sz="950" dirty="0"/>
          </a:p>
        </p:txBody>
      </p:sp>
      <p:sp>
        <p:nvSpPr>
          <p:cNvPr id="7" name="Text 5"/>
          <p:cNvSpPr/>
          <p:nvPr/>
        </p:nvSpPr>
        <p:spPr>
          <a:xfrm>
            <a:off x="411480" y="1152144"/>
            <a:ext cx="5532120" cy="493776"/>
          </a:xfrm>
          <a:prstGeom prst="rect">
            <a:avLst/>
          </a:prstGeom>
          <a:noFill/>
          <a:ln/>
        </p:spPr>
        <p:txBody>
          <a:bodyPr wrap="square" lIns="0" tIns="0" rIns="0" bIns="0" rtlCol="0" anchor="t"/>
          <a:lstStyle/>
          <a:p>
            <a:pPr algn="l" indent="0" marL="0">
              <a:buNone/>
            </a:pPr>
            <a:r>
              <a:rPr lang="en-US" sz="1100" b="1" dirty="0">
                <a:solidFill>
                  <a:srgbClr val="1E2761"/>
                </a:solidFill>
                <a:latin typeface="Calibri" pitchFamily="34" charset="0"/>
                <a:ea typeface="Calibri" pitchFamily="34" charset="-122"/>
                <a:cs typeface="Calibri" pitchFamily="34" charset="-120"/>
              </a:rPr>
              <a:t>Eigenfertigung oder Fremdbezug? </a:t>
            </a:r>
            <a:pPr algn="l" indent="0" marL="0">
              <a:buNone/>
            </a:pPr>
            <a:r>
              <a:rPr lang="en-US" sz="1100" dirty="0">
                <a:solidFill>
                  <a:srgbClr val="454B5C"/>
                </a:solidFill>
                <a:latin typeface="Calibri" pitchFamily="34" charset="0"/>
                <a:ea typeface="Calibri" pitchFamily="34" charset="-122"/>
                <a:cs typeface="Calibri" pitchFamily="34" charset="-120"/>
              </a:rPr>
              <a:t>Soll ein Teil, eine Baugruppe oder eine Dienstleistung selbst hergestellt oder extern beschafft werden?</a:t>
            </a:r>
            <a:endParaRPr lang="en-US" sz="1100" dirty="0"/>
          </a:p>
        </p:txBody>
      </p:sp>
      <p:sp>
        <p:nvSpPr>
          <p:cNvPr id="8" name="Shape 6"/>
          <p:cNvSpPr/>
          <p:nvPr/>
        </p:nvSpPr>
        <p:spPr>
          <a:xfrm>
            <a:off x="6144768" y="950976"/>
            <a:ext cx="0" cy="658368"/>
          </a:xfrm>
          <a:prstGeom prst="line">
            <a:avLst/>
          </a:prstGeom>
          <a:noFill/>
          <a:ln w="12700">
            <a:solidFill>
              <a:srgbClr val="D9E0EF"/>
            </a:solidFill>
            <a:prstDash val="solid"/>
          </a:ln>
        </p:spPr>
      </p:sp>
      <p:sp>
        <p:nvSpPr>
          <p:cNvPr id="9" name="Text 7"/>
          <p:cNvSpPr/>
          <p:nvPr/>
        </p:nvSpPr>
        <p:spPr>
          <a:xfrm>
            <a:off x="6355080" y="932688"/>
            <a:ext cx="5486400" cy="201168"/>
          </a:xfrm>
          <a:prstGeom prst="rect">
            <a:avLst/>
          </a:prstGeom>
          <a:noFill/>
          <a:ln/>
        </p:spPr>
        <p:txBody>
          <a:bodyPr wrap="square" lIns="0" tIns="0" rIns="0" bIns="0" rtlCol="0" anchor="t"/>
          <a:lstStyle/>
          <a:p>
            <a:pPr algn="l" indent="0" marL="0">
              <a:buNone/>
            </a:pPr>
            <a:r>
              <a:rPr lang="en-US" sz="950" b="1" spc="150" kern="0" dirty="0">
                <a:solidFill>
                  <a:srgbClr val="2EA86A"/>
                </a:solidFill>
              </a:rPr>
              <a:t>ZIEL &amp; NUTZEN</a:t>
            </a:r>
            <a:endParaRPr lang="en-US" sz="950" dirty="0"/>
          </a:p>
        </p:txBody>
      </p:sp>
      <p:sp>
        <p:nvSpPr>
          <p:cNvPr id="10" name="Text 8"/>
          <p:cNvSpPr/>
          <p:nvPr/>
        </p:nvSpPr>
        <p:spPr>
          <a:xfrm>
            <a:off x="6355080" y="1152144"/>
            <a:ext cx="5440680" cy="493776"/>
          </a:xfrm>
          <a:prstGeom prst="rect">
            <a:avLst/>
          </a:prstGeom>
          <a:noFill/>
          <a:ln/>
        </p:spPr>
        <p:txBody>
          <a:bodyPr wrap="square" lIns="0" tIns="0" rIns="0" bIns="0" rtlCol="0" anchor="t"/>
          <a:lstStyle/>
          <a:p>
            <a:pPr algn="l" indent="0" marL="0">
              <a:buNone/>
            </a:pPr>
            <a:r>
              <a:rPr lang="en-US" sz="1100" dirty="0">
                <a:solidFill>
                  <a:srgbClr val="454B5C"/>
                </a:solidFill>
                <a:latin typeface="Calibri" pitchFamily="34" charset="0"/>
                <a:ea typeface="Calibri" pitchFamily="34" charset="-122"/>
                <a:cs typeface="Calibri" pitchFamily="34" charset="-120"/>
              </a:rPr>
              <a:t>Kosten senken, knappe Kapazitäten optimal nutzen und Kernkompetenzen sichern — eine fundierte Controlling-Entscheidung statt Bauchgefühl.</a:t>
            </a:r>
            <a:endParaRPr lang="en-US" sz="1100" dirty="0"/>
          </a:p>
        </p:txBody>
      </p:sp>
      <p:sp>
        <p:nvSpPr>
          <p:cNvPr id="11" name="Text 9"/>
          <p:cNvSpPr/>
          <p:nvPr/>
        </p:nvSpPr>
        <p:spPr>
          <a:xfrm>
            <a:off x="411480" y="1810512"/>
            <a:ext cx="11338560" cy="274320"/>
          </a:xfrm>
          <a:prstGeom prst="rect">
            <a:avLst/>
          </a:prstGeom>
          <a:noFill/>
          <a:ln/>
        </p:spPr>
        <p:txBody>
          <a:bodyPr wrap="square" lIns="0" tIns="0" rIns="0" bIns="0" rtlCol="0" anchor="ctr"/>
          <a:lstStyle/>
          <a:p>
            <a:pPr algn="l" indent="0" marL="0">
              <a:buNone/>
            </a:pPr>
            <a:r>
              <a:rPr lang="en-US" sz="1300" b="1" dirty="0">
                <a:solidFill>
                  <a:srgbClr val="1E2761"/>
                </a:solidFill>
                <a:latin typeface="Georgia" pitchFamily="34" charset="0"/>
                <a:ea typeface="Georgia" pitchFamily="34" charset="-122"/>
                <a:cs typeface="Georgia" pitchFamily="34" charset="-120"/>
              </a:rPr>
              <a:t>WIE WIRD ENTSCHIEDEN?</a:t>
            </a:r>
            <a:pPr algn="l" indent="0" marL="0">
              <a:buNone/>
            </a:pPr>
            <a:r>
              <a:rPr lang="en-US" sz="1300" i="1" dirty="0">
                <a:solidFill>
                  <a:srgbClr val="6B7180"/>
                </a:solidFill>
                <a:latin typeface="Georgia" pitchFamily="34" charset="0"/>
                <a:ea typeface="Georgia" pitchFamily="34" charset="-122"/>
                <a:cs typeface="Georgia" pitchFamily="34" charset="-120"/>
              </a:rPr>
              <a:t>   quantitative Entscheidungsregeln</a:t>
            </a:r>
            <a:endParaRPr lang="en-US" sz="1300" dirty="0"/>
          </a:p>
        </p:txBody>
      </p:sp>
      <p:sp>
        <p:nvSpPr>
          <p:cNvPr id="12" name="Shape 10"/>
          <p:cNvSpPr/>
          <p:nvPr/>
        </p:nvSpPr>
        <p:spPr>
          <a:xfrm>
            <a:off x="411480" y="2157984"/>
            <a:ext cx="3602736" cy="1517904"/>
          </a:xfrm>
          <a:prstGeom prst="rect">
            <a:avLst/>
          </a:prstGeom>
          <a:solidFill>
            <a:srgbClr val="F4F6FB"/>
          </a:solidFill>
          <a:ln w="12700">
            <a:solidFill>
              <a:srgbClr val="D9E0EF"/>
            </a:solidFill>
            <a:prstDash val="solid"/>
          </a:ln>
          <a:effectLst>
            <a:outerShdw sx="100000" sy="100000" kx="0" ky="0" algn="bl" rotWithShape="0" blurRad="63500" dist="25400" dir="8100000">
              <a:srgbClr val="000000">
                <a:alpha val="10000"/>
              </a:srgbClr>
            </a:outerShdw>
          </a:effectLst>
        </p:spPr>
      </p:sp>
      <p:sp>
        <p:nvSpPr>
          <p:cNvPr id="13" name="Shape 11"/>
          <p:cNvSpPr/>
          <p:nvPr/>
        </p:nvSpPr>
        <p:spPr>
          <a:xfrm>
            <a:off x="411480" y="2157984"/>
            <a:ext cx="3602736" cy="64008"/>
          </a:xfrm>
          <a:prstGeom prst="rect">
            <a:avLst/>
          </a:prstGeom>
          <a:solidFill>
            <a:srgbClr val="2EA86A"/>
          </a:solidFill>
          <a:ln/>
        </p:spPr>
      </p:sp>
      <p:sp>
        <p:nvSpPr>
          <p:cNvPr id="14" name="Shape 12"/>
          <p:cNvSpPr/>
          <p:nvPr/>
        </p:nvSpPr>
        <p:spPr>
          <a:xfrm>
            <a:off x="612648" y="2359152"/>
            <a:ext cx="384048" cy="384048"/>
          </a:xfrm>
          <a:prstGeom prst="ellipse">
            <a:avLst/>
          </a:prstGeom>
          <a:solidFill>
            <a:srgbClr val="1E2761"/>
          </a:solidFill>
          <a:ln/>
        </p:spPr>
      </p:sp>
      <p:sp>
        <p:nvSpPr>
          <p:cNvPr id="15" name="Text 13"/>
          <p:cNvSpPr/>
          <p:nvPr/>
        </p:nvSpPr>
        <p:spPr>
          <a:xfrm>
            <a:off x="612648" y="235915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16" name="Text 14"/>
          <p:cNvSpPr/>
          <p:nvPr/>
        </p:nvSpPr>
        <p:spPr>
          <a:xfrm>
            <a:off x="1124712" y="2340864"/>
            <a:ext cx="2734056" cy="420624"/>
          </a:xfrm>
          <a:prstGeom prst="rect">
            <a:avLst/>
          </a:prstGeom>
          <a:noFill/>
          <a:ln/>
        </p:spPr>
        <p:txBody>
          <a:bodyPr wrap="square" lIns="0" tIns="0" rIns="0" bIns="0" rtlCol="0" anchor="ctr"/>
          <a:lstStyle/>
          <a:p>
            <a:pPr algn="l" indent="0" marL="0">
              <a:buNone/>
            </a:pPr>
            <a:r>
              <a:rPr lang="en-US" sz="1250" b="1" dirty="0">
                <a:solidFill>
                  <a:srgbClr val="1E2761"/>
                </a:solidFill>
                <a:latin typeface="Georgia" pitchFamily="34" charset="0"/>
                <a:ea typeface="Georgia" pitchFamily="34" charset="-122"/>
                <a:cs typeface="Georgia" pitchFamily="34" charset="-120"/>
              </a:rPr>
              <a:t>Kurzfristig · kein Engpass</a:t>
            </a:r>
            <a:endParaRPr lang="en-US" sz="1250" dirty="0"/>
          </a:p>
        </p:txBody>
      </p:sp>
      <p:sp>
        <p:nvSpPr>
          <p:cNvPr id="17" name="Text 15"/>
          <p:cNvSpPr/>
          <p:nvPr/>
        </p:nvSpPr>
        <p:spPr>
          <a:xfrm>
            <a:off x="630936" y="2834640"/>
            <a:ext cx="3182112" cy="457200"/>
          </a:xfrm>
          <a:prstGeom prst="rect">
            <a:avLst/>
          </a:prstGeom>
          <a:noFill/>
          <a:ln/>
        </p:spPr>
        <p:txBody>
          <a:bodyPr wrap="square" lIns="0" tIns="0" rIns="0" bIns="0" rtlCol="0" anchor="t"/>
          <a:lstStyle/>
          <a:p>
            <a:pPr algn="l" indent="0" marL="0">
              <a:buNone/>
            </a:pPr>
            <a:r>
              <a:rPr lang="en-US" sz="950" dirty="0">
                <a:solidFill>
                  <a:srgbClr val="454B5C"/>
                </a:solidFill>
                <a:latin typeface="Calibri" pitchFamily="34" charset="0"/>
                <a:ea typeface="Calibri" pitchFamily="34" charset="-122"/>
                <a:cs typeface="Calibri" pitchFamily="34" charset="-120"/>
              </a:rPr>
              <a:t>Fixkosten fallen ohnehin an → nicht entscheidungsrelevant. Reiner Vergleich der variablen Stückkosten.</a:t>
            </a:r>
            <a:endParaRPr lang="en-US" sz="950" dirty="0"/>
          </a:p>
        </p:txBody>
      </p:sp>
      <p:sp>
        <p:nvSpPr>
          <p:cNvPr id="18" name="Shape 16"/>
          <p:cNvSpPr/>
          <p:nvPr/>
        </p:nvSpPr>
        <p:spPr>
          <a:xfrm>
            <a:off x="630936" y="3218688"/>
            <a:ext cx="3163824" cy="347472"/>
          </a:xfrm>
          <a:prstGeom prst="rect">
            <a:avLst/>
          </a:prstGeom>
          <a:solidFill>
            <a:srgbClr val="1E2761"/>
          </a:solidFill>
          <a:ln/>
        </p:spPr>
      </p:sp>
      <p:sp>
        <p:nvSpPr>
          <p:cNvPr id="19" name="Text 17"/>
          <p:cNvSpPr/>
          <p:nvPr/>
        </p:nvSpPr>
        <p:spPr>
          <a:xfrm>
            <a:off x="630936" y="3218688"/>
            <a:ext cx="3163824"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kᵥ &lt; p_FB  →  Make</a:t>
            </a:r>
            <a:endParaRPr lang="en-US" sz="1200" dirty="0"/>
          </a:p>
        </p:txBody>
      </p:sp>
      <p:sp>
        <p:nvSpPr>
          <p:cNvPr id="20" name="Shape 18"/>
          <p:cNvSpPr/>
          <p:nvPr/>
        </p:nvSpPr>
        <p:spPr>
          <a:xfrm>
            <a:off x="4247388" y="2157984"/>
            <a:ext cx="3602736" cy="1517904"/>
          </a:xfrm>
          <a:prstGeom prst="rect">
            <a:avLst/>
          </a:prstGeom>
          <a:solidFill>
            <a:srgbClr val="F4F6FB"/>
          </a:solidFill>
          <a:ln w="12700">
            <a:solidFill>
              <a:srgbClr val="D9E0EF"/>
            </a:solidFill>
            <a:prstDash val="solid"/>
          </a:ln>
          <a:effectLst>
            <a:outerShdw sx="100000" sy="100000" kx="0" ky="0" algn="bl" rotWithShape="0" blurRad="63500" dist="25400" dir="8100000">
              <a:srgbClr val="000000">
                <a:alpha val="10000"/>
              </a:srgbClr>
            </a:outerShdw>
          </a:effectLst>
        </p:spPr>
      </p:sp>
      <p:sp>
        <p:nvSpPr>
          <p:cNvPr id="21" name="Shape 19"/>
          <p:cNvSpPr/>
          <p:nvPr/>
        </p:nvSpPr>
        <p:spPr>
          <a:xfrm>
            <a:off x="4247388" y="2157984"/>
            <a:ext cx="3602736" cy="64008"/>
          </a:xfrm>
          <a:prstGeom prst="rect">
            <a:avLst/>
          </a:prstGeom>
          <a:solidFill>
            <a:srgbClr val="2EA86A"/>
          </a:solidFill>
          <a:ln/>
        </p:spPr>
      </p:sp>
      <p:sp>
        <p:nvSpPr>
          <p:cNvPr id="22" name="Shape 20"/>
          <p:cNvSpPr/>
          <p:nvPr/>
        </p:nvSpPr>
        <p:spPr>
          <a:xfrm>
            <a:off x="4448556" y="2359152"/>
            <a:ext cx="384048" cy="384048"/>
          </a:xfrm>
          <a:prstGeom prst="ellipse">
            <a:avLst/>
          </a:prstGeom>
          <a:solidFill>
            <a:srgbClr val="1E2761"/>
          </a:solidFill>
          <a:ln/>
        </p:spPr>
      </p:sp>
      <p:sp>
        <p:nvSpPr>
          <p:cNvPr id="23" name="Text 21"/>
          <p:cNvSpPr/>
          <p:nvPr/>
        </p:nvSpPr>
        <p:spPr>
          <a:xfrm>
            <a:off x="4448556" y="235915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24" name="Text 22"/>
          <p:cNvSpPr/>
          <p:nvPr/>
        </p:nvSpPr>
        <p:spPr>
          <a:xfrm>
            <a:off x="4960620" y="2340864"/>
            <a:ext cx="2734056" cy="420624"/>
          </a:xfrm>
          <a:prstGeom prst="rect">
            <a:avLst/>
          </a:prstGeom>
          <a:noFill/>
          <a:ln/>
        </p:spPr>
        <p:txBody>
          <a:bodyPr wrap="square" lIns="0" tIns="0" rIns="0" bIns="0" rtlCol="0" anchor="ctr"/>
          <a:lstStyle/>
          <a:p>
            <a:pPr algn="l" indent="0" marL="0">
              <a:buNone/>
            </a:pPr>
            <a:r>
              <a:rPr lang="en-US" sz="1250" b="1" dirty="0">
                <a:solidFill>
                  <a:srgbClr val="1E2761"/>
                </a:solidFill>
                <a:latin typeface="Georgia" pitchFamily="34" charset="0"/>
                <a:ea typeface="Georgia" pitchFamily="34" charset="-122"/>
                <a:cs typeface="Georgia" pitchFamily="34" charset="-120"/>
              </a:rPr>
              <a:t>Kurzfristig · mit Engpass</a:t>
            </a:r>
            <a:endParaRPr lang="en-US" sz="1250" dirty="0"/>
          </a:p>
        </p:txBody>
      </p:sp>
      <p:sp>
        <p:nvSpPr>
          <p:cNvPr id="25" name="Text 23"/>
          <p:cNvSpPr/>
          <p:nvPr/>
        </p:nvSpPr>
        <p:spPr>
          <a:xfrm>
            <a:off x="4466844" y="2834640"/>
            <a:ext cx="3182112" cy="457200"/>
          </a:xfrm>
          <a:prstGeom prst="rect">
            <a:avLst/>
          </a:prstGeom>
          <a:noFill/>
          <a:ln/>
        </p:spPr>
        <p:txBody>
          <a:bodyPr wrap="square" lIns="0" tIns="0" rIns="0" bIns="0" rtlCol="0" anchor="t"/>
          <a:lstStyle/>
          <a:p>
            <a:pPr algn="l" indent="0" marL="0">
              <a:buNone/>
            </a:pPr>
            <a:r>
              <a:rPr lang="en-US" sz="950" dirty="0">
                <a:solidFill>
                  <a:srgbClr val="454B5C"/>
                </a:solidFill>
                <a:latin typeface="Calibri" pitchFamily="34" charset="0"/>
                <a:ea typeface="Calibri" pitchFamily="34" charset="-122"/>
                <a:cs typeface="Calibri" pitchFamily="34" charset="-120"/>
              </a:rPr>
              <a:t>Kapazität begrenzt → zusätzlich Opportunitätskosten (OK = entgangener Deckungsbeitrag der verdrängten Alternative).</a:t>
            </a:r>
            <a:endParaRPr lang="en-US" sz="950" dirty="0"/>
          </a:p>
        </p:txBody>
      </p:sp>
      <p:sp>
        <p:nvSpPr>
          <p:cNvPr id="26" name="Shape 24"/>
          <p:cNvSpPr/>
          <p:nvPr/>
        </p:nvSpPr>
        <p:spPr>
          <a:xfrm>
            <a:off x="4466844" y="3218688"/>
            <a:ext cx="3163824" cy="347472"/>
          </a:xfrm>
          <a:prstGeom prst="rect">
            <a:avLst/>
          </a:prstGeom>
          <a:solidFill>
            <a:srgbClr val="1E2761"/>
          </a:solidFill>
          <a:ln/>
        </p:spPr>
      </p:sp>
      <p:sp>
        <p:nvSpPr>
          <p:cNvPr id="27" name="Text 25"/>
          <p:cNvSpPr/>
          <p:nvPr/>
        </p:nvSpPr>
        <p:spPr>
          <a:xfrm>
            <a:off x="4466844" y="3218688"/>
            <a:ext cx="3163824"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kᵥ + OK &lt; p_FB  →  Make</a:t>
            </a:r>
            <a:endParaRPr lang="en-US" sz="1200" dirty="0"/>
          </a:p>
        </p:txBody>
      </p:sp>
      <p:sp>
        <p:nvSpPr>
          <p:cNvPr id="28" name="Shape 26"/>
          <p:cNvSpPr/>
          <p:nvPr/>
        </p:nvSpPr>
        <p:spPr>
          <a:xfrm>
            <a:off x="8083296" y="2157984"/>
            <a:ext cx="3602736" cy="1517904"/>
          </a:xfrm>
          <a:prstGeom prst="rect">
            <a:avLst/>
          </a:prstGeom>
          <a:solidFill>
            <a:srgbClr val="F4F6FB"/>
          </a:solidFill>
          <a:ln w="12700">
            <a:solidFill>
              <a:srgbClr val="D9E0EF"/>
            </a:solidFill>
            <a:prstDash val="solid"/>
          </a:ln>
          <a:effectLst>
            <a:outerShdw sx="100000" sy="100000" kx="0" ky="0" algn="bl" rotWithShape="0" blurRad="63500" dist="25400" dir="8100000">
              <a:srgbClr val="000000">
                <a:alpha val="10000"/>
              </a:srgbClr>
            </a:outerShdw>
          </a:effectLst>
        </p:spPr>
      </p:sp>
      <p:sp>
        <p:nvSpPr>
          <p:cNvPr id="29" name="Shape 27"/>
          <p:cNvSpPr/>
          <p:nvPr/>
        </p:nvSpPr>
        <p:spPr>
          <a:xfrm>
            <a:off x="8083296" y="2157984"/>
            <a:ext cx="3602736" cy="64008"/>
          </a:xfrm>
          <a:prstGeom prst="rect">
            <a:avLst/>
          </a:prstGeom>
          <a:solidFill>
            <a:srgbClr val="2EA86A"/>
          </a:solidFill>
          <a:ln/>
        </p:spPr>
      </p:sp>
      <p:sp>
        <p:nvSpPr>
          <p:cNvPr id="30" name="Shape 28"/>
          <p:cNvSpPr/>
          <p:nvPr/>
        </p:nvSpPr>
        <p:spPr>
          <a:xfrm>
            <a:off x="8284464" y="2359152"/>
            <a:ext cx="384048" cy="384048"/>
          </a:xfrm>
          <a:prstGeom prst="ellipse">
            <a:avLst/>
          </a:prstGeom>
          <a:solidFill>
            <a:srgbClr val="1E2761"/>
          </a:solidFill>
          <a:ln/>
        </p:spPr>
      </p:sp>
      <p:sp>
        <p:nvSpPr>
          <p:cNvPr id="31" name="Text 29"/>
          <p:cNvSpPr/>
          <p:nvPr/>
        </p:nvSpPr>
        <p:spPr>
          <a:xfrm>
            <a:off x="8284464" y="235915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32" name="Text 30"/>
          <p:cNvSpPr/>
          <p:nvPr/>
        </p:nvSpPr>
        <p:spPr>
          <a:xfrm>
            <a:off x="8796528" y="2340864"/>
            <a:ext cx="2734056" cy="420624"/>
          </a:xfrm>
          <a:prstGeom prst="rect">
            <a:avLst/>
          </a:prstGeom>
          <a:noFill/>
          <a:ln/>
        </p:spPr>
        <p:txBody>
          <a:bodyPr wrap="square" lIns="0" tIns="0" rIns="0" bIns="0" rtlCol="0" anchor="ctr"/>
          <a:lstStyle/>
          <a:p>
            <a:pPr algn="l" indent="0" marL="0">
              <a:buNone/>
            </a:pPr>
            <a:r>
              <a:rPr lang="en-US" sz="1250" b="1" dirty="0">
                <a:solidFill>
                  <a:srgbClr val="1E2761"/>
                </a:solidFill>
                <a:latin typeface="Georgia" pitchFamily="34" charset="0"/>
                <a:ea typeface="Georgia" pitchFamily="34" charset="-122"/>
                <a:cs typeface="Georgia" pitchFamily="34" charset="-120"/>
              </a:rPr>
              <a:t>Langfristig</a:t>
            </a:r>
            <a:endParaRPr lang="en-US" sz="1250" dirty="0"/>
          </a:p>
        </p:txBody>
      </p:sp>
      <p:sp>
        <p:nvSpPr>
          <p:cNvPr id="33" name="Text 31"/>
          <p:cNvSpPr/>
          <p:nvPr/>
        </p:nvSpPr>
        <p:spPr>
          <a:xfrm>
            <a:off x="8302752" y="2834640"/>
            <a:ext cx="3182112" cy="457200"/>
          </a:xfrm>
          <a:prstGeom prst="rect">
            <a:avLst/>
          </a:prstGeom>
          <a:noFill/>
          <a:ln/>
        </p:spPr>
        <p:txBody>
          <a:bodyPr wrap="square" lIns="0" tIns="0" rIns="0" bIns="0" rtlCol="0" anchor="t"/>
          <a:lstStyle/>
          <a:p>
            <a:pPr algn="l" indent="0" marL="0">
              <a:buNone/>
            </a:pPr>
            <a:r>
              <a:rPr lang="en-US" sz="950" dirty="0">
                <a:solidFill>
                  <a:srgbClr val="454B5C"/>
                </a:solidFill>
                <a:latin typeface="Calibri" pitchFamily="34" charset="0"/>
                <a:ea typeface="Calibri" pitchFamily="34" charset="-122"/>
                <a:cs typeface="Calibri" pitchFamily="34" charset="-120"/>
              </a:rPr>
              <a:t>Fixkosten &amp; Anlagen veränderbar → Vollkosten plus Investitionsrechnung (Kapitalwert-Vergleich).</a:t>
            </a:r>
            <a:endParaRPr lang="en-US" sz="950" dirty="0"/>
          </a:p>
        </p:txBody>
      </p:sp>
      <p:sp>
        <p:nvSpPr>
          <p:cNvPr id="34" name="Shape 32"/>
          <p:cNvSpPr/>
          <p:nvPr/>
        </p:nvSpPr>
        <p:spPr>
          <a:xfrm>
            <a:off x="8302752" y="3218688"/>
            <a:ext cx="3163824" cy="347472"/>
          </a:xfrm>
          <a:prstGeom prst="rect">
            <a:avLst/>
          </a:prstGeom>
          <a:solidFill>
            <a:srgbClr val="1E2761"/>
          </a:solidFill>
          <a:ln/>
        </p:spPr>
      </p:sp>
      <p:sp>
        <p:nvSpPr>
          <p:cNvPr id="35" name="Text 33"/>
          <p:cNvSpPr/>
          <p:nvPr/>
        </p:nvSpPr>
        <p:spPr>
          <a:xfrm>
            <a:off x="8302752" y="3218688"/>
            <a:ext cx="3163824"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KW(Make) ≷ KW(Buy)</a:t>
            </a:r>
            <a:endParaRPr lang="en-US" sz="1200" dirty="0"/>
          </a:p>
        </p:txBody>
      </p:sp>
      <p:sp>
        <p:nvSpPr>
          <p:cNvPr id="36" name="Shape 34"/>
          <p:cNvSpPr/>
          <p:nvPr/>
        </p:nvSpPr>
        <p:spPr>
          <a:xfrm>
            <a:off x="411480" y="3822192"/>
            <a:ext cx="11365992" cy="347472"/>
          </a:xfrm>
          <a:prstGeom prst="roundRect">
            <a:avLst>
              <a:gd name="adj" fmla="val 15789"/>
            </a:avLst>
          </a:prstGeom>
          <a:solidFill>
            <a:srgbClr val="EDF1FA"/>
          </a:solidFill>
          <a:ln/>
        </p:spPr>
      </p:sp>
      <p:sp>
        <p:nvSpPr>
          <p:cNvPr id="37" name="Text 35"/>
          <p:cNvSpPr/>
          <p:nvPr/>
        </p:nvSpPr>
        <p:spPr>
          <a:xfrm>
            <a:off x="640080" y="3822192"/>
            <a:ext cx="10972800" cy="347472"/>
          </a:xfrm>
          <a:prstGeom prst="rect">
            <a:avLst/>
          </a:prstGeom>
          <a:noFill/>
          <a:ln/>
        </p:spPr>
        <p:txBody>
          <a:bodyPr wrap="square" lIns="0" tIns="0" rIns="0" bIns="0" rtlCol="0" anchor="ctr"/>
          <a:lstStyle/>
          <a:p>
            <a:pPr algn="l" indent="0" marL="0">
              <a:buNone/>
            </a:pPr>
            <a:r>
              <a:rPr lang="en-US" sz="1050" b="1" spc="100" kern="0" dirty="0">
                <a:solidFill>
                  <a:srgbClr val="2EA86A"/>
                </a:solidFill>
                <a:latin typeface="Calibri" pitchFamily="34" charset="0"/>
                <a:ea typeface="Calibri" pitchFamily="34" charset="-122"/>
                <a:cs typeface="Calibri" pitchFamily="34" charset="-120"/>
              </a:rPr>
              <a:t>VORGEHEN   </a:t>
            </a:r>
            <a:pPr algn="l" indent="0" marL="0">
              <a:buNone/>
            </a:pPr>
            <a:r>
              <a:rPr lang="en-US" sz="1050" b="1" dirty="0">
                <a:solidFill>
                  <a:srgbClr val="1E2761"/>
                </a:solidFill>
                <a:latin typeface="Calibri" pitchFamily="34" charset="0"/>
                <a:ea typeface="Calibri" pitchFamily="34" charset="-122"/>
                <a:cs typeface="Calibri" pitchFamily="34" charset="-120"/>
              </a:rPr>
              <a:t>Bedarf  →  Kostenanalyse  →  Nutzwertanalyse  →  Strategie-Check  →  Entscheidung  →  Monitoring</a:t>
            </a:r>
            <a:endParaRPr lang="en-US" sz="1050" dirty="0"/>
          </a:p>
        </p:txBody>
      </p:sp>
      <p:sp>
        <p:nvSpPr>
          <p:cNvPr id="38" name="Text 36"/>
          <p:cNvSpPr/>
          <p:nvPr/>
        </p:nvSpPr>
        <p:spPr>
          <a:xfrm>
            <a:off x="411480" y="4334256"/>
            <a:ext cx="11338560" cy="274320"/>
          </a:xfrm>
          <a:prstGeom prst="rect">
            <a:avLst/>
          </a:prstGeom>
          <a:noFill/>
          <a:ln/>
        </p:spPr>
        <p:txBody>
          <a:bodyPr wrap="square" lIns="0" tIns="0" rIns="0" bIns="0" rtlCol="0" anchor="ctr"/>
          <a:lstStyle/>
          <a:p>
            <a:pPr algn="l" indent="0" marL="0">
              <a:buNone/>
            </a:pPr>
            <a:r>
              <a:rPr lang="en-US" sz="1300" b="1" dirty="0">
                <a:solidFill>
                  <a:srgbClr val="1E2761"/>
                </a:solidFill>
                <a:latin typeface="Georgia" pitchFamily="34" charset="0"/>
                <a:ea typeface="Georgia" pitchFamily="34" charset="-122"/>
                <a:cs typeface="Georgia" pitchFamily="34" charset="-120"/>
              </a:rPr>
              <a:t>NACH WELCHEN KRITERIEN?</a:t>
            </a:r>
            <a:pPr algn="l" indent="0" marL="0">
              <a:buNone/>
            </a:pPr>
            <a:r>
              <a:rPr lang="en-US" sz="1300" i="1" dirty="0">
                <a:solidFill>
                  <a:srgbClr val="6B7180"/>
                </a:solidFill>
                <a:latin typeface="Georgia" pitchFamily="34" charset="0"/>
                <a:ea typeface="Georgia" pitchFamily="34" charset="-122"/>
                <a:cs typeface="Georgia" pitchFamily="34" charset="-120"/>
              </a:rPr>
              <a:t>   qualitative Bewertung (Nutzwertanalyse)</a:t>
            </a:r>
            <a:endParaRPr lang="en-US" sz="1300" dirty="0"/>
          </a:p>
        </p:txBody>
      </p:sp>
      <p:sp>
        <p:nvSpPr>
          <p:cNvPr id="39" name="Shape 37"/>
          <p:cNvSpPr/>
          <p:nvPr/>
        </p:nvSpPr>
        <p:spPr>
          <a:xfrm>
            <a:off x="411480" y="4681728"/>
            <a:ext cx="5577840" cy="1170432"/>
          </a:xfrm>
          <a:prstGeom prst="rect">
            <a:avLst/>
          </a:prstGeom>
          <a:solidFill>
            <a:srgbClr val="F4F6FB"/>
          </a:solidFill>
          <a:ln w="12700">
            <a:solidFill>
              <a:srgbClr val="D9E0EF"/>
            </a:solidFill>
            <a:prstDash val="solid"/>
          </a:ln>
        </p:spPr>
      </p:sp>
      <p:sp>
        <p:nvSpPr>
          <p:cNvPr id="40" name="Shape 38"/>
          <p:cNvSpPr/>
          <p:nvPr/>
        </p:nvSpPr>
        <p:spPr>
          <a:xfrm>
            <a:off x="411480" y="4681728"/>
            <a:ext cx="5577840" cy="310896"/>
          </a:xfrm>
          <a:prstGeom prst="rect">
            <a:avLst/>
          </a:prstGeom>
          <a:solidFill>
            <a:srgbClr val="2EA86A"/>
          </a:solidFill>
          <a:ln/>
        </p:spPr>
      </p:sp>
      <p:pic>
        <p:nvPicPr>
          <p:cNvPr id="41" name="Image 0" descr="preencoded.png">    </p:cNvPr>
          <p:cNvPicPr>
            <a:picLocks noChangeAspect="1"/>
          </p:cNvPicPr>
          <p:nvPr/>
        </p:nvPicPr>
        <p:blipFill>
          <a:blip r:embed="rId1"/>
          <a:stretch>
            <a:fillRect/>
          </a:stretch>
        </p:blipFill>
        <p:spPr>
          <a:xfrm>
            <a:off x="539496" y="4745736"/>
            <a:ext cx="182880" cy="182880"/>
          </a:xfrm>
          <a:prstGeom prst="rect">
            <a:avLst/>
          </a:prstGeom>
        </p:spPr>
      </p:pic>
      <p:sp>
        <p:nvSpPr>
          <p:cNvPr id="42" name="Text 39"/>
          <p:cNvSpPr/>
          <p:nvPr/>
        </p:nvSpPr>
        <p:spPr>
          <a:xfrm>
            <a:off x="795528" y="4681728"/>
            <a:ext cx="5120640" cy="310896"/>
          </a:xfrm>
          <a:prstGeom prst="rect">
            <a:avLst/>
          </a:prstGeom>
          <a:noFill/>
          <a:ln/>
        </p:spPr>
        <p:txBody>
          <a:bodyPr wrap="square" lIns="0" tIns="0" rIns="0" bIns="0" rtlCol="0" anchor="ctr"/>
          <a:lstStyle/>
          <a:p>
            <a:pPr algn="l" indent="0" marL="0">
              <a:buNone/>
            </a:pPr>
            <a:r>
              <a:rPr lang="en-US" sz="1050" b="1" spc="50" kern="0" dirty="0">
                <a:solidFill>
                  <a:srgbClr val="FFFFFF"/>
                </a:solidFill>
                <a:latin typeface="Calibri" pitchFamily="34" charset="0"/>
                <a:ea typeface="Calibri" pitchFamily="34" charset="-122"/>
                <a:cs typeface="Calibri" pitchFamily="34" charset="-120"/>
              </a:rPr>
              <a:t>PRO EIGENFERTIGUNG (MAKE)</a:t>
            </a:r>
            <a:endParaRPr lang="en-US" sz="1050" dirty="0"/>
          </a:p>
        </p:txBody>
      </p:sp>
      <p:sp>
        <p:nvSpPr>
          <p:cNvPr id="43" name="Text 40"/>
          <p:cNvSpPr/>
          <p:nvPr/>
        </p:nvSpPr>
        <p:spPr>
          <a:xfrm>
            <a:off x="594360" y="5084064"/>
            <a:ext cx="2560320" cy="713232"/>
          </a:xfrm>
          <a:prstGeom prst="rect">
            <a:avLst/>
          </a:prstGeom>
          <a:noFill/>
          <a:ln/>
        </p:spPr>
        <p:txBody>
          <a:bodyPr wrap="square" lIns="0" tIns="0" rIns="0" bIns="0" rtlCol="0" anchor="t"/>
          <a:lstStyle/>
          <a:p>
            <a:pPr algn="l" marL="127000" indent="-127000">
              <a:spcAft>
                <a:spcPts val="700"/>
              </a:spcAft>
              <a:buSzPct val="100000"/>
              <a:buChar char="•"/>
            </a:pPr>
            <a:r>
              <a:rPr lang="en-US" sz="950" dirty="0">
                <a:solidFill>
                  <a:srgbClr val="454B5C"/>
                </a:solidFill>
                <a:latin typeface="Calibri" pitchFamily="34" charset="0"/>
                <a:ea typeface="Calibri" pitchFamily="34" charset="-122"/>
                <a:cs typeface="Calibri" pitchFamily="34" charset="-120"/>
              </a:rPr>
              <a:t>Qualität &amp; Fertigungs-Know-how sichern</a:t>
            </a:r>
            <a:endParaRPr lang="en-US" sz="950" dirty="0"/>
          </a:p>
          <a:p>
            <a:pPr algn="l" marL="127000" indent="-127000">
              <a:spcAft>
                <a:spcPts val="700"/>
              </a:spcAft>
              <a:buSzPct val="100000"/>
              <a:buChar char="•"/>
            </a:pPr>
            <a:r>
              <a:rPr lang="en-US" sz="950" dirty="0">
                <a:solidFill>
                  <a:srgbClr val="454B5C"/>
                </a:solidFill>
                <a:latin typeface="Calibri" pitchFamily="34" charset="0"/>
                <a:ea typeface="Calibri" pitchFamily="34" charset="-122"/>
                <a:cs typeface="Calibri" pitchFamily="34" charset="-120"/>
              </a:rPr>
              <a:t>Patente / Geheimhaltung schützen</a:t>
            </a:r>
            <a:endParaRPr lang="en-US" sz="950" dirty="0"/>
          </a:p>
        </p:txBody>
      </p:sp>
      <p:sp>
        <p:nvSpPr>
          <p:cNvPr id="44" name="Text 41"/>
          <p:cNvSpPr/>
          <p:nvPr/>
        </p:nvSpPr>
        <p:spPr>
          <a:xfrm>
            <a:off x="3200400" y="5084064"/>
            <a:ext cx="2560320" cy="713232"/>
          </a:xfrm>
          <a:prstGeom prst="rect">
            <a:avLst/>
          </a:prstGeom>
          <a:noFill/>
          <a:ln/>
        </p:spPr>
        <p:txBody>
          <a:bodyPr wrap="square" lIns="0" tIns="0" rIns="0" bIns="0" rtlCol="0" anchor="t"/>
          <a:lstStyle/>
          <a:p>
            <a:pPr algn="l" marL="127000" indent="-127000">
              <a:spcAft>
                <a:spcPts val="700"/>
              </a:spcAft>
              <a:buSzPct val="100000"/>
              <a:buChar char="•"/>
            </a:pPr>
            <a:r>
              <a:rPr lang="en-US" sz="950" dirty="0">
                <a:solidFill>
                  <a:srgbClr val="454B5C"/>
                </a:solidFill>
                <a:latin typeface="Calibri" pitchFamily="34" charset="0"/>
                <a:ea typeface="Calibri" pitchFamily="34" charset="-122"/>
                <a:cs typeface="Calibri" pitchFamily="34" charset="-120"/>
              </a:rPr>
              <a:t>Versorgungssicherheit, keine Abhängigkeit</a:t>
            </a:r>
            <a:endParaRPr lang="en-US" sz="950" dirty="0"/>
          </a:p>
          <a:p>
            <a:pPr algn="l" marL="127000" indent="-127000">
              <a:spcAft>
                <a:spcPts val="700"/>
              </a:spcAft>
              <a:buSzPct val="100000"/>
              <a:buChar char="•"/>
            </a:pPr>
            <a:r>
              <a:rPr lang="en-US" sz="950" dirty="0">
                <a:solidFill>
                  <a:srgbClr val="454B5C"/>
                </a:solidFill>
                <a:latin typeface="Calibri" pitchFamily="34" charset="0"/>
                <a:ea typeface="Calibri" pitchFamily="34" charset="-122"/>
                <a:cs typeface="Calibri" pitchFamily="34" charset="-120"/>
              </a:rPr>
              <a:t>strategische Kernkompetenz</a:t>
            </a:r>
            <a:endParaRPr lang="en-US" sz="950" dirty="0"/>
          </a:p>
        </p:txBody>
      </p:sp>
      <p:sp>
        <p:nvSpPr>
          <p:cNvPr id="45" name="Shape 42"/>
          <p:cNvSpPr/>
          <p:nvPr/>
        </p:nvSpPr>
        <p:spPr>
          <a:xfrm>
            <a:off x="6199632" y="4681728"/>
            <a:ext cx="5577840" cy="1170432"/>
          </a:xfrm>
          <a:prstGeom prst="rect">
            <a:avLst/>
          </a:prstGeom>
          <a:solidFill>
            <a:srgbClr val="F4F6FB"/>
          </a:solidFill>
          <a:ln w="12700">
            <a:solidFill>
              <a:srgbClr val="D9E0EF"/>
            </a:solidFill>
            <a:prstDash val="solid"/>
          </a:ln>
        </p:spPr>
      </p:sp>
      <p:sp>
        <p:nvSpPr>
          <p:cNvPr id="46" name="Shape 43"/>
          <p:cNvSpPr/>
          <p:nvPr/>
        </p:nvSpPr>
        <p:spPr>
          <a:xfrm>
            <a:off x="6199632" y="4681728"/>
            <a:ext cx="5577840" cy="310896"/>
          </a:xfrm>
          <a:prstGeom prst="rect">
            <a:avLst/>
          </a:prstGeom>
          <a:solidFill>
            <a:srgbClr val="1E2761"/>
          </a:solidFill>
          <a:ln/>
        </p:spPr>
      </p:sp>
      <p:pic>
        <p:nvPicPr>
          <p:cNvPr id="47" name="Image 1" descr="preencoded.png">    </p:cNvPr>
          <p:cNvPicPr>
            <a:picLocks noChangeAspect="1"/>
          </p:cNvPicPr>
          <p:nvPr/>
        </p:nvPicPr>
        <p:blipFill>
          <a:blip r:embed="rId2"/>
          <a:stretch>
            <a:fillRect/>
          </a:stretch>
        </p:blipFill>
        <p:spPr>
          <a:xfrm>
            <a:off x="6327648" y="4745736"/>
            <a:ext cx="182880" cy="182880"/>
          </a:xfrm>
          <a:prstGeom prst="rect">
            <a:avLst/>
          </a:prstGeom>
        </p:spPr>
      </p:pic>
      <p:sp>
        <p:nvSpPr>
          <p:cNvPr id="48" name="Text 44"/>
          <p:cNvSpPr/>
          <p:nvPr/>
        </p:nvSpPr>
        <p:spPr>
          <a:xfrm>
            <a:off x="6583680" y="4681728"/>
            <a:ext cx="5120640" cy="310896"/>
          </a:xfrm>
          <a:prstGeom prst="rect">
            <a:avLst/>
          </a:prstGeom>
          <a:noFill/>
          <a:ln/>
        </p:spPr>
        <p:txBody>
          <a:bodyPr wrap="square" lIns="0" tIns="0" rIns="0" bIns="0" rtlCol="0" anchor="ctr"/>
          <a:lstStyle/>
          <a:p>
            <a:pPr algn="l" indent="0" marL="0">
              <a:buNone/>
            </a:pPr>
            <a:r>
              <a:rPr lang="en-US" sz="1050" b="1" spc="50" kern="0" dirty="0">
                <a:solidFill>
                  <a:srgbClr val="FFFFFF"/>
                </a:solidFill>
                <a:latin typeface="Calibri" pitchFamily="34" charset="0"/>
                <a:ea typeface="Calibri" pitchFamily="34" charset="-122"/>
                <a:cs typeface="Calibri" pitchFamily="34" charset="-120"/>
              </a:rPr>
              <a:t>PRO FREMDBEZUG (BUY)</a:t>
            </a:r>
            <a:endParaRPr lang="en-US" sz="1050" dirty="0"/>
          </a:p>
        </p:txBody>
      </p:sp>
      <p:sp>
        <p:nvSpPr>
          <p:cNvPr id="49" name="Text 45"/>
          <p:cNvSpPr/>
          <p:nvPr/>
        </p:nvSpPr>
        <p:spPr>
          <a:xfrm>
            <a:off x="6382512" y="5084064"/>
            <a:ext cx="2560320" cy="713232"/>
          </a:xfrm>
          <a:prstGeom prst="rect">
            <a:avLst/>
          </a:prstGeom>
          <a:noFill/>
          <a:ln/>
        </p:spPr>
        <p:txBody>
          <a:bodyPr wrap="square" lIns="0" tIns="0" rIns="0" bIns="0" rtlCol="0" anchor="t"/>
          <a:lstStyle/>
          <a:p>
            <a:pPr algn="l" marL="127000" indent="-127000">
              <a:spcAft>
                <a:spcPts val="700"/>
              </a:spcAft>
              <a:buSzPct val="100000"/>
              <a:buChar char="•"/>
            </a:pPr>
            <a:r>
              <a:rPr lang="en-US" sz="950" dirty="0">
                <a:solidFill>
                  <a:srgbClr val="454B5C"/>
                </a:solidFill>
                <a:latin typeface="Calibri" pitchFamily="34" charset="0"/>
                <a:ea typeface="Calibri" pitchFamily="34" charset="-122"/>
                <a:cs typeface="Calibri" pitchFamily="34" charset="-120"/>
              </a:rPr>
              <a:t>Kostenvorteile durch Skaleneffekte</a:t>
            </a:r>
            <a:endParaRPr lang="en-US" sz="950" dirty="0"/>
          </a:p>
          <a:p>
            <a:pPr algn="l" marL="127000" indent="-127000">
              <a:spcAft>
                <a:spcPts val="700"/>
              </a:spcAft>
              <a:buSzPct val="100000"/>
              <a:buChar char="•"/>
            </a:pPr>
            <a:r>
              <a:rPr lang="en-US" sz="950" dirty="0">
                <a:solidFill>
                  <a:srgbClr val="454B5C"/>
                </a:solidFill>
                <a:latin typeface="Calibri" pitchFamily="34" charset="0"/>
                <a:ea typeface="Calibri" pitchFamily="34" charset="-122"/>
                <a:cs typeface="Calibri" pitchFamily="34" charset="-120"/>
              </a:rPr>
              <a:t>kürzere Lieferzeiten &amp; Spezialwissen</a:t>
            </a:r>
            <a:endParaRPr lang="en-US" sz="950" dirty="0"/>
          </a:p>
        </p:txBody>
      </p:sp>
      <p:sp>
        <p:nvSpPr>
          <p:cNvPr id="50" name="Text 46"/>
          <p:cNvSpPr/>
          <p:nvPr/>
        </p:nvSpPr>
        <p:spPr>
          <a:xfrm>
            <a:off x="8988552" y="5084064"/>
            <a:ext cx="2560320" cy="713232"/>
          </a:xfrm>
          <a:prstGeom prst="rect">
            <a:avLst/>
          </a:prstGeom>
          <a:noFill/>
          <a:ln/>
        </p:spPr>
        <p:txBody>
          <a:bodyPr wrap="square" lIns="0" tIns="0" rIns="0" bIns="0" rtlCol="0" anchor="t"/>
          <a:lstStyle/>
          <a:p>
            <a:pPr algn="l" marL="127000" indent="-127000">
              <a:spcAft>
                <a:spcPts val="700"/>
              </a:spcAft>
              <a:buSzPct val="100000"/>
              <a:buChar char="•"/>
            </a:pPr>
            <a:r>
              <a:rPr lang="en-US" sz="950" dirty="0">
                <a:solidFill>
                  <a:srgbClr val="454B5C"/>
                </a:solidFill>
                <a:latin typeface="Calibri" pitchFamily="34" charset="0"/>
                <a:ea typeface="Calibri" pitchFamily="34" charset="-122"/>
                <a:cs typeface="Calibri" pitchFamily="34" charset="-120"/>
              </a:rPr>
              <a:t>Flexibilität ohne Kapitalbindung</a:t>
            </a:r>
            <a:endParaRPr lang="en-US" sz="950" dirty="0"/>
          </a:p>
          <a:p>
            <a:pPr algn="l" marL="127000" indent="-127000">
              <a:spcAft>
                <a:spcPts val="700"/>
              </a:spcAft>
              <a:buSzPct val="100000"/>
              <a:buChar char="•"/>
            </a:pPr>
            <a:r>
              <a:rPr lang="en-US" sz="950" dirty="0">
                <a:solidFill>
                  <a:srgbClr val="454B5C"/>
                </a:solidFill>
                <a:latin typeface="Calibri" pitchFamily="34" charset="0"/>
                <a:ea typeface="Calibri" pitchFamily="34" charset="-122"/>
                <a:cs typeface="Calibri" pitchFamily="34" charset="-120"/>
              </a:rPr>
              <a:t>Risikotransfer, Fokus aufs Kerngeschäft</a:t>
            </a:r>
            <a:endParaRPr lang="en-US" sz="950" dirty="0"/>
          </a:p>
        </p:txBody>
      </p:sp>
      <p:sp>
        <p:nvSpPr>
          <p:cNvPr id="51" name="Shape 47"/>
          <p:cNvSpPr/>
          <p:nvPr/>
        </p:nvSpPr>
        <p:spPr>
          <a:xfrm>
            <a:off x="0" y="6053328"/>
            <a:ext cx="12188952" cy="804672"/>
          </a:xfrm>
          <a:prstGeom prst="rect">
            <a:avLst/>
          </a:prstGeom>
          <a:solidFill>
            <a:srgbClr val="171D49"/>
          </a:solidFill>
          <a:ln/>
        </p:spPr>
      </p:sp>
      <p:sp>
        <p:nvSpPr>
          <p:cNvPr id="52" name="Shape 48"/>
          <p:cNvSpPr/>
          <p:nvPr/>
        </p:nvSpPr>
        <p:spPr>
          <a:xfrm>
            <a:off x="0" y="6053328"/>
            <a:ext cx="128016" cy="804672"/>
          </a:xfrm>
          <a:prstGeom prst="rect">
            <a:avLst/>
          </a:prstGeom>
          <a:solidFill>
            <a:srgbClr val="2EA86A"/>
          </a:solidFill>
          <a:ln/>
        </p:spPr>
      </p:sp>
      <p:sp>
        <p:nvSpPr>
          <p:cNvPr id="53" name="Text 49"/>
          <p:cNvSpPr/>
          <p:nvPr/>
        </p:nvSpPr>
        <p:spPr>
          <a:xfrm>
            <a:off x="411480" y="6053328"/>
            <a:ext cx="11365992" cy="804672"/>
          </a:xfrm>
          <a:prstGeom prst="rect">
            <a:avLst/>
          </a:prstGeom>
          <a:noFill/>
          <a:ln/>
        </p:spPr>
        <p:txBody>
          <a:bodyPr wrap="square" lIns="0" tIns="0" rIns="0" bIns="0" rtlCol="0" anchor="ctr"/>
          <a:lstStyle/>
          <a:p>
            <a:pPr algn="l" indent="0" marL="0">
              <a:buNone/>
            </a:pPr>
            <a:r>
              <a:rPr lang="en-US" sz="1300" b="1" spc="100" kern="0" dirty="0">
                <a:solidFill>
                  <a:srgbClr val="2EA86A"/>
                </a:solidFill>
                <a:latin typeface="Calibri" pitchFamily="34" charset="0"/>
                <a:ea typeface="Calibri" pitchFamily="34" charset="-122"/>
                <a:cs typeface="Calibri" pitchFamily="34" charset="-120"/>
              </a:rPr>
              <a:t>FAZIT   </a:t>
            </a:r>
            <a:pPr algn="l" indent="0" marL="0">
              <a:buNone/>
            </a:pPr>
            <a:r>
              <a:rPr lang="en-US" sz="1250" b="1" dirty="0">
                <a:solidFill>
                  <a:srgbClr val="FFFFFF"/>
                </a:solidFill>
                <a:latin typeface="Calibri" pitchFamily="34" charset="0"/>
                <a:ea typeface="Calibri" pitchFamily="34" charset="-122"/>
                <a:cs typeface="Calibri" pitchFamily="34" charset="-120"/>
              </a:rPr>
              <a:t>Quantitative Regeln liefern die Preis-Untergrenze, qualitative Kriterien entscheiden langfristig — Make-or-Buy verbindet Kostenrechnung, Kapazitätssteuerung und Strategie.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Make-or-Buy-Entscheidung im Produktionscontrolling</dc:title>
  <dc:subject>PptxGenJS Presentation</dc:subject>
  <dc:creator>Wirtschaftsingenieurwesen</dc:creator>
  <cp:lastModifiedBy>Wirtschaftsingenieurwesen</cp:lastModifiedBy>
  <cp:revision>1</cp:revision>
  <dcterms:created xsi:type="dcterms:W3CDTF">2026-06-16T13:37:14Z</dcterms:created>
  <dcterms:modified xsi:type="dcterms:W3CDTF">2026-06-16T13:37:14Z</dcterms:modified>
</cp:coreProperties>
</file>