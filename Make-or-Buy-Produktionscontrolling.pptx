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Ich habe mich für das Thema Make-or-Buy-Entscheidung im Produktionscontrolling entschieden. Dabei geht es um die Frage, ob ein Unternehmen ein Teil selbst herstellen oder von einem Lieferanten beziehen soll.
Kurzfristig ist zuerst wichtig, ob ein Kapazitätsengpass vorliegt. Wenn kein Engpass besteht, vergleicht man den Fremdbezugspreis mit den variablen Stückkosten der Eigenfertigung. Fixkosten sind kurzfristig nicht entscheidungsrelevant, weil sie ohnehin anfallen. Ist die Eigenfertigung variabel günstiger, spricht das für Make. Ist der Fremdbezugspreis niedriger, spricht das für Buy.
Bei einem Engpass reicht dieser einfache Vergleich nicht aus. Dann müssen Opportunitätskosten berücksichtigt werden. Das sind entgangene Deckungsbeiträge, weil Kapazität für ein Produkt genutzt wird und dadurch ein anderes Produkt verdrängt werden kann.
Langfristig wird die Entscheidung strategischer. Dann können sich auch Fixkosten, Investitionen und Produktionsstrukturen verändern. Deshalb betrachtet das Controlling zusätzlich Investitionsrechnung, Qualität, Know-how, Lieferfähigkeit und mögliche Abhängigkeiten von Lieferanten.
Zusammenfassend ist Make-or-Buy eine typische Controlling-Entscheidung, weil sie Kostenrechnung, Kapazitätssteuerung und strategische Bewertung miteinander verbindet.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143000"/>
          </a:xfrm>
          <a:prstGeom prst="rect">
            <a:avLst/>
          </a:prstGeom>
          <a:solidFill>
            <a:srgbClr val="1E2761"/>
          </a:solidFill>
          <a:ln/>
        </p:spPr>
      </p:sp>
      <p:sp>
        <p:nvSpPr>
          <p:cNvPr id="3" name="Text 1"/>
          <p:cNvSpPr/>
          <p:nvPr/>
        </p:nvSpPr>
        <p:spPr>
          <a:xfrm>
            <a:off x="502920" y="109728"/>
            <a:ext cx="8778240" cy="658368"/>
          </a:xfrm>
          <a:prstGeom prst="rect">
            <a:avLst/>
          </a:prstGeom>
          <a:noFill/>
          <a:ln/>
        </p:spPr>
        <p:txBody>
          <a:bodyPr wrap="square" lIns="0" tIns="0" rIns="0" bIns="0" rtlCol="0" anchor="ctr"/>
          <a:lstStyle/>
          <a:p>
            <a:pPr algn="l" indent="0" marL="0">
              <a:buNone/>
            </a:pPr>
            <a:r>
              <a:rPr lang="en-US" sz="2700" b="1" dirty="0">
                <a:solidFill>
                  <a:srgbClr val="FFFFFF"/>
                </a:solidFill>
                <a:latin typeface="Georgia" pitchFamily="34" charset="0"/>
                <a:ea typeface="Georgia" pitchFamily="34" charset="-122"/>
                <a:cs typeface="Georgia" pitchFamily="34" charset="-120"/>
              </a:rPr>
              <a:t>Make-or-Buy-Entscheidung im Produktionscontrolling</a:t>
            </a:r>
            <a:endParaRPr lang="en-US" sz="2700" dirty="0"/>
          </a:p>
        </p:txBody>
      </p:sp>
      <p:sp>
        <p:nvSpPr>
          <p:cNvPr id="4" name="Shape 2"/>
          <p:cNvSpPr/>
          <p:nvPr/>
        </p:nvSpPr>
        <p:spPr>
          <a:xfrm>
            <a:off x="9464040" y="310896"/>
            <a:ext cx="2331720" cy="530352"/>
          </a:xfrm>
          <a:prstGeom prst="roundRect">
            <a:avLst>
              <a:gd name="adj" fmla="val 50000"/>
            </a:avLst>
          </a:prstGeom>
          <a:solidFill>
            <a:srgbClr val="2EA86A"/>
          </a:solidFill>
          <a:ln/>
        </p:spPr>
      </p:sp>
      <p:sp>
        <p:nvSpPr>
          <p:cNvPr id="5" name="Text 3"/>
          <p:cNvSpPr/>
          <p:nvPr/>
        </p:nvSpPr>
        <p:spPr>
          <a:xfrm>
            <a:off x="9464040" y="310896"/>
            <a:ext cx="2331720" cy="530352"/>
          </a:xfrm>
          <a:prstGeom prst="rect">
            <a:avLst/>
          </a:prstGeom>
          <a:noFill/>
          <a:ln/>
        </p:spPr>
        <p:txBody>
          <a:bodyPr wrap="square" lIns="0" tIns="0" rIns="0" bIns="0" rtlCol="0" anchor="ctr"/>
          <a:lstStyle/>
          <a:p>
            <a:pPr algn="ctr" indent="0" marL="0">
              <a:buNone/>
            </a:pPr>
            <a:r>
              <a:rPr lang="en-US" sz="1150" b="1" i="1" dirty="0">
                <a:solidFill>
                  <a:srgbClr val="FFFFFF"/>
                </a:solidFill>
              </a:rPr>
              <a:t>Eigenfertigung oder Fremdbezug?</a:t>
            </a:r>
            <a:endParaRPr lang="en-US" sz="1150" dirty="0"/>
          </a:p>
        </p:txBody>
      </p:sp>
      <p:sp>
        <p:nvSpPr>
          <p:cNvPr id="6" name="Text 4"/>
          <p:cNvSpPr/>
          <p:nvPr/>
        </p:nvSpPr>
        <p:spPr>
          <a:xfrm>
            <a:off x="521208" y="758952"/>
            <a:ext cx="8229600" cy="274320"/>
          </a:xfrm>
          <a:prstGeom prst="rect">
            <a:avLst/>
          </a:prstGeom>
          <a:noFill/>
          <a:ln/>
        </p:spPr>
        <p:txBody>
          <a:bodyPr wrap="square" lIns="0" tIns="0" rIns="0" bIns="0" rtlCol="0" anchor="ctr"/>
          <a:lstStyle/>
          <a:p>
            <a:pPr algn="l" indent="0" marL="0">
              <a:buNone/>
            </a:pPr>
            <a:r>
              <a:rPr lang="en-US" sz="1200" dirty="0">
                <a:solidFill>
                  <a:srgbClr val="CADCFC"/>
                </a:solidFill>
                <a:latin typeface="Calibri" pitchFamily="34" charset="0"/>
                <a:ea typeface="Calibri" pitchFamily="34" charset="-122"/>
                <a:cs typeface="Calibri" pitchFamily="34" charset="-120"/>
              </a:rPr>
              <a:t>Leitfrage des Produktionscontrollings</a:t>
            </a:r>
            <a:endParaRPr lang="en-US" sz="1200" dirty="0"/>
          </a:p>
        </p:txBody>
      </p:sp>
      <p:sp>
        <p:nvSpPr>
          <p:cNvPr id="7" name="Shape 5"/>
          <p:cNvSpPr/>
          <p:nvPr/>
        </p:nvSpPr>
        <p:spPr>
          <a:xfrm>
            <a:off x="274320" y="1554480"/>
            <a:ext cx="3657600" cy="4160520"/>
          </a:xfrm>
          <a:prstGeom prst="rect">
            <a:avLst/>
          </a:prstGeom>
          <a:solidFill>
            <a:srgbClr val="F4F7FD"/>
          </a:solidFill>
          <a:ln w="12700">
            <a:solidFill>
              <a:srgbClr val="DCE4F5"/>
            </a:solidFill>
            <a:prstDash val="solid"/>
          </a:ln>
          <a:effectLst>
            <a:outerShdw sx="100000" sy="100000" kx="0" ky="0" algn="bl" rotWithShape="0" blurRad="88900" dist="38100" dir="8100000">
              <a:srgbClr val="000000">
                <a:alpha val="12000"/>
              </a:srgbClr>
            </a:outerShdw>
          </a:effectLst>
        </p:spPr>
      </p:sp>
      <p:sp>
        <p:nvSpPr>
          <p:cNvPr id="8" name="Shape 6"/>
          <p:cNvSpPr/>
          <p:nvPr/>
        </p:nvSpPr>
        <p:spPr>
          <a:xfrm>
            <a:off x="274320" y="1554480"/>
            <a:ext cx="3657600" cy="109728"/>
          </a:xfrm>
          <a:prstGeom prst="rect">
            <a:avLst/>
          </a:prstGeom>
          <a:solidFill>
            <a:srgbClr val="2EA86A"/>
          </a:solidFill>
          <a:ln/>
        </p:spPr>
      </p:sp>
      <p:sp>
        <p:nvSpPr>
          <p:cNvPr id="9" name="Shape 7"/>
          <p:cNvSpPr/>
          <p:nvPr/>
        </p:nvSpPr>
        <p:spPr>
          <a:xfrm>
            <a:off x="548640" y="1874520"/>
            <a:ext cx="658368" cy="658368"/>
          </a:xfrm>
          <a:prstGeom prst="ellipse">
            <a:avLst/>
          </a:prstGeom>
          <a:solidFill>
            <a:srgbClr val="1E2761"/>
          </a:solidFill>
          <a:ln/>
        </p:spPr>
      </p:sp>
      <p:pic>
        <p:nvPicPr>
          <p:cNvPr id="10" name="Image 0" descr="preencoded.png">    </p:cNvPr>
          <p:cNvPicPr>
            <a:picLocks noChangeAspect="1"/>
          </p:cNvPicPr>
          <p:nvPr/>
        </p:nvPicPr>
        <p:blipFill>
          <a:blip r:embed="rId1"/>
          <a:stretch>
            <a:fillRect/>
          </a:stretch>
        </p:blipFill>
        <p:spPr>
          <a:xfrm>
            <a:off x="704088" y="2029968"/>
            <a:ext cx="347472" cy="347472"/>
          </a:xfrm>
          <a:prstGeom prst="rect">
            <a:avLst/>
          </a:prstGeom>
        </p:spPr>
      </p:pic>
      <p:sp>
        <p:nvSpPr>
          <p:cNvPr id="11" name="Text 8"/>
          <p:cNvSpPr/>
          <p:nvPr/>
        </p:nvSpPr>
        <p:spPr>
          <a:xfrm>
            <a:off x="3154680" y="1828800"/>
            <a:ext cx="548640" cy="548640"/>
          </a:xfrm>
          <a:prstGeom prst="rect">
            <a:avLst/>
          </a:prstGeom>
          <a:noFill/>
          <a:ln/>
        </p:spPr>
        <p:txBody>
          <a:bodyPr wrap="square" lIns="0" tIns="0" rIns="0" bIns="0" rtlCol="0" anchor="t"/>
          <a:lstStyle/>
          <a:p>
            <a:pPr algn="r" indent="0" marL="0">
              <a:buNone/>
            </a:pPr>
            <a:r>
              <a:rPr lang="en-US" sz="4000" b="1" dirty="0">
                <a:solidFill>
                  <a:srgbClr val="DCE4F5"/>
                </a:solidFill>
                <a:latin typeface="Georgia" pitchFamily="34" charset="0"/>
                <a:ea typeface="Georgia" pitchFamily="34" charset="-122"/>
                <a:cs typeface="Georgia" pitchFamily="34" charset="-120"/>
              </a:rPr>
              <a:t>1</a:t>
            </a:r>
            <a:endParaRPr lang="en-US" sz="4000" dirty="0"/>
          </a:p>
        </p:txBody>
      </p:sp>
      <p:sp>
        <p:nvSpPr>
          <p:cNvPr id="12" name="Text 9"/>
          <p:cNvSpPr/>
          <p:nvPr/>
        </p:nvSpPr>
        <p:spPr>
          <a:xfrm>
            <a:off x="548640" y="2651760"/>
            <a:ext cx="3108960" cy="256032"/>
          </a:xfrm>
          <a:prstGeom prst="rect">
            <a:avLst/>
          </a:prstGeom>
          <a:noFill/>
          <a:ln/>
        </p:spPr>
        <p:txBody>
          <a:bodyPr wrap="square" lIns="0" tIns="0" rIns="0" bIns="0" rtlCol="0" anchor="ctr"/>
          <a:lstStyle/>
          <a:p>
            <a:pPr algn="l" indent="0" marL="0">
              <a:buNone/>
            </a:pPr>
            <a:r>
              <a:rPr lang="en-US" sz="950" b="1" spc="100" kern="0" dirty="0">
                <a:solidFill>
                  <a:srgbClr val="2EA86A"/>
                </a:solidFill>
              </a:rPr>
              <a:t>KURZFRISTIG · OHNE ENGPASS</a:t>
            </a:r>
            <a:endParaRPr lang="en-US" sz="950" dirty="0"/>
          </a:p>
        </p:txBody>
      </p:sp>
      <p:sp>
        <p:nvSpPr>
          <p:cNvPr id="13" name="Text 10"/>
          <p:cNvSpPr/>
          <p:nvPr/>
        </p:nvSpPr>
        <p:spPr>
          <a:xfrm>
            <a:off x="548640" y="2889504"/>
            <a:ext cx="3108960" cy="384048"/>
          </a:xfrm>
          <a:prstGeom prst="rect">
            <a:avLst/>
          </a:prstGeom>
          <a:noFill/>
          <a:ln/>
        </p:spPr>
        <p:txBody>
          <a:bodyPr wrap="square" lIns="0" tIns="0" rIns="0" bIns="0" rtlCol="0" anchor="ctr"/>
          <a:lstStyle/>
          <a:p>
            <a:pPr algn="l" indent="0" marL="0">
              <a:buNone/>
            </a:pPr>
            <a:r>
              <a:rPr lang="en-US" sz="1800" b="1" dirty="0">
                <a:solidFill>
                  <a:srgbClr val="1E2761"/>
                </a:solidFill>
                <a:latin typeface="Georgia" pitchFamily="34" charset="0"/>
                <a:ea typeface="Georgia" pitchFamily="34" charset="-122"/>
                <a:cs typeface="Georgia" pitchFamily="34" charset="-120"/>
              </a:rPr>
              <a:t>Kostenvergleich</a:t>
            </a:r>
            <a:endParaRPr lang="en-US" sz="1800" dirty="0"/>
          </a:p>
        </p:txBody>
      </p:sp>
      <p:sp>
        <p:nvSpPr>
          <p:cNvPr id="14" name="Text 11"/>
          <p:cNvSpPr/>
          <p:nvPr/>
        </p:nvSpPr>
        <p:spPr>
          <a:xfrm>
            <a:off x="548640" y="3337560"/>
            <a:ext cx="3154680" cy="1234440"/>
          </a:xfrm>
          <a:prstGeom prst="rect">
            <a:avLst/>
          </a:prstGeom>
          <a:noFill/>
          <a:ln/>
        </p:spPr>
        <p:txBody>
          <a:bodyPr wrap="square" lIns="0" tIns="0" rIns="0" bIns="0" rtlCol="0" anchor="t"/>
          <a:lstStyle/>
          <a:p>
            <a:pPr algn="l" marL="152400" indent="-152400">
              <a:spcAft>
                <a:spcPts val="600"/>
              </a:spcAft>
              <a:buSzPct val="100000"/>
              <a:buChar char="•"/>
            </a:pPr>
            <a:r>
              <a:rPr lang="en-US" sz="1050" dirty="0">
                <a:solidFill>
                  <a:srgbClr val="5A6173"/>
                </a:solidFill>
                <a:latin typeface="Calibri" pitchFamily="34" charset="0"/>
                <a:ea typeface="Calibri" pitchFamily="34" charset="-122"/>
                <a:cs typeface="Calibri" pitchFamily="34" charset="-120"/>
              </a:rPr>
              <a:t>Fixkosten kurzfristig nicht entscheidungsrelevant</a:t>
            </a:r>
            <a:endParaRPr lang="en-US" sz="1050" dirty="0"/>
          </a:p>
          <a:p>
            <a:pPr algn="l" marL="152400" indent="-152400">
              <a:spcAft>
                <a:spcPts val="600"/>
              </a:spcAft>
              <a:buSzPct val="100000"/>
              <a:buChar char="•"/>
            </a:pPr>
            <a:r>
              <a:rPr lang="en-US" sz="1050" dirty="0">
                <a:solidFill>
                  <a:srgbClr val="5A6173"/>
                </a:solidFill>
                <a:latin typeface="Calibri" pitchFamily="34" charset="0"/>
                <a:ea typeface="Calibri" pitchFamily="34" charset="-122"/>
                <a:cs typeface="Calibri" pitchFamily="34" charset="-120"/>
              </a:rPr>
              <a:t>Vergleich: variable Stückkosten kᵥ vs. Fremdbezugspreis p_FB</a:t>
            </a:r>
            <a:endParaRPr lang="en-US" sz="1050" dirty="0"/>
          </a:p>
        </p:txBody>
      </p:sp>
      <p:sp>
        <p:nvSpPr>
          <p:cNvPr id="15" name="Shape 12"/>
          <p:cNvSpPr/>
          <p:nvPr/>
        </p:nvSpPr>
        <p:spPr>
          <a:xfrm>
            <a:off x="548640" y="4727448"/>
            <a:ext cx="3108960" cy="841248"/>
          </a:xfrm>
          <a:prstGeom prst="rect">
            <a:avLst/>
          </a:prstGeom>
          <a:solidFill>
            <a:srgbClr val="1E2761"/>
          </a:solidFill>
          <a:ln/>
        </p:spPr>
      </p:sp>
      <p:sp>
        <p:nvSpPr>
          <p:cNvPr id="16" name="Text 13"/>
          <p:cNvSpPr/>
          <p:nvPr/>
        </p:nvSpPr>
        <p:spPr>
          <a:xfrm>
            <a:off x="548640" y="4727448"/>
            <a:ext cx="3108960" cy="841248"/>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kᵥ &lt; p_FB  →  Eigenfertigung</a:t>
            </a:r>
            <a:endParaRPr lang="en-US" sz="1300" dirty="0"/>
          </a:p>
          <a:p>
            <a:pPr algn="ctr" indent="0" marL="0">
              <a:buNone/>
            </a:pPr>
            <a:r>
              <a:rPr lang="en-US" sz="1300" b="1" dirty="0">
                <a:solidFill>
                  <a:srgbClr val="FFFFFF"/>
                </a:solidFill>
                <a:latin typeface="Consolas" pitchFamily="34" charset="0"/>
                <a:ea typeface="Consolas" pitchFamily="34" charset="-122"/>
                <a:cs typeface="Consolas" pitchFamily="34" charset="-120"/>
              </a:rPr>
              <a:t>p_FB &lt; kᵥ  →  Fremdbezug</a:t>
            </a:r>
            <a:endParaRPr lang="en-US" sz="1300" dirty="0"/>
          </a:p>
        </p:txBody>
      </p:sp>
      <p:sp>
        <p:nvSpPr>
          <p:cNvPr id="17" name="Shape 14"/>
          <p:cNvSpPr/>
          <p:nvPr/>
        </p:nvSpPr>
        <p:spPr>
          <a:xfrm>
            <a:off x="4251960" y="1554480"/>
            <a:ext cx="3657600" cy="4160520"/>
          </a:xfrm>
          <a:prstGeom prst="rect">
            <a:avLst/>
          </a:prstGeom>
          <a:solidFill>
            <a:srgbClr val="F4F7FD"/>
          </a:solidFill>
          <a:ln w="12700">
            <a:solidFill>
              <a:srgbClr val="DCE4F5"/>
            </a:solidFill>
            <a:prstDash val="solid"/>
          </a:ln>
          <a:effectLst>
            <a:outerShdw sx="100000" sy="100000" kx="0" ky="0" algn="bl" rotWithShape="0" blurRad="88900" dist="38100" dir="8100000">
              <a:srgbClr val="000000">
                <a:alpha val="12000"/>
              </a:srgbClr>
            </a:outerShdw>
          </a:effectLst>
        </p:spPr>
      </p:sp>
      <p:sp>
        <p:nvSpPr>
          <p:cNvPr id="18" name="Shape 15"/>
          <p:cNvSpPr/>
          <p:nvPr/>
        </p:nvSpPr>
        <p:spPr>
          <a:xfrm>
            <a:off x="4251960" y="1554480"/>
            <a:ext cx="3657600" cy="109728"/>
          </a:xfrm>
          <a:prstGeom prst="rect">
            <a:avLst/>
          </a:prstGeom>
          <a:solidFill>
            <a:srgbClr val="2EA86A"/>
          </a:solidFill>
          <a:ln/>
        </p:spPr>
      </p:sp>
      <p:sp>
        <p:nvSpPr>
          <p:cNvPr id="19" name="Shape 16"/>
          <p:cNvSpPr/>
          <p:nvPr/>
        </p:nvSpPr>
        <p:spPr>
          <a:xfrm>
            <a:off x="4526280" y="1874520"/>
            <a:ext cx="658368" cy="658368"/>
          </a:xfrm>
          <a:prstGeom prst="ellipse">
            <a:avLst/>
          </a:prstGeom>
          <a:solidFill>
            <a:srgbClr val="1E2761"/>
          </a:solidFill>
          <a:ln/>
        </p:spPr>
      </p:sp>
      <p:pic>
        <p:nvPicPr>
          <p:cNvPr id="20" name="Image 1" descr="preencoded.png">    </p:cNvPr>
          <p:cNvPicPr>
            <a:picLocks noChangeAspect="1"/>
          </p:cNvPicPr>
          <p:nvPr/>
        </p:nvPicPr>
        <p:blipFill>
          <a:blip r:embed="rId2"/>
          <a:stretch>
            <a:fillRect/>
          </a:stretch>
        </p:blipFill>
        <p:spPr>
          <a:xfrm>
            <a:off x="4681728" y="2029968"/>
            <a:ext cx="347472" cy="347472"/>
          </a:xfrm>
          <a:prstGeom prst="rect">
            <a:avLst/>
          </a:prstGeom>
        </p:spPr>
      </p:pic>
      <p:sp>
        <p:nvSpPr>
          <p:cNvPr id="21" name="Text 17"/>
          <p:cNvSpPr/>
          <p:nvPr/>
        </p:nvSpPr>
        <p:spPr>
          <a:xfrm>
            <a:off x="7132320" y="1828800"/>
            <a:ext cx="548640" cy="548640"/>
          </a:xfrm>
          <a:prstGeom prst="rect">
            <a:avLst/>
          </a:prstGeom>
          <a:noFill/>
          <a:ln/>
        </p:spPr>
        <p:txBody>
          <a:bodyPr wrap="square" lIns="0" tIns="0" rIns="0" bIns="0" rtlCol="0" anchor="t"/>
          <a:lstStyle/>
          <a:p>
            <a:pPr algn="r" indent="0" marL="0">
              <a:buNone/>
            </a:pPr>
            <a:r>
              <a:rPr lang="en-US" sz="4000" b="1" dirty="0">
                <a:solidFill>
                  <a:srgbClr val="DCE4F5"/>
                </a:solidFill>
                <a:latin typeface="Georgia" pitchFamily="34" charset="0"/>
                <a:ea typeface="Georgia" pitchFamily="34" charset="-122"/>
                <a:cs typeface="Georgia" pitchFamily="34" charset="-120"/>
              </a:rPr>
              <a:t>2</a:t>
            </a:r>
            <a:endParaRPr lang="en-US" sz="4000" dirty="0"/>
          </a:p>
        </p:txBody>
      </p:sp>
      <p:sp>
        <p:nvSpPr>
          <p:cNvPr id="22" name="Text 18"/>
          <p:cNvSpPr/>
          <p:nvPr/>
        </p:nvSpPr>
        <p:spPr>
          <a:xfrm>
            <a:off x="4526280" y="2651760"/>
            <a:ext cx="3108960" cy="256032"/>
          </a:xfrm>
          <a:prstGeom prst="rect">
            <a:avLst/>
          </a:prstGeom>
          <a:noFill/>
          <a:ln/>
        </p:spPr>
        <p:txBody>
          <a:bodyPr wrap="square" lIns="0" tIns="0" rIns="0" bIns="0" rtlCol="0" anchor="ctr"/>
          <a:lstStyle/>
          <a:p>
            <a:pPr algn="l" indent="0" marL="0">
              <a:buNone/>
            </a:pPr>
            <a:r>
              <a:rPr lang="en-US" sz="950" b="1" spc="100" kern="0" dirty="0">
                <a:solidFill>
                  <a:srgbClr val="2EA86A"/>
                </a:solidFill>
              </a:rPr>
              <a:t>KURZFRISTIG · MIT ENGPASS</a:t>
            </a:r>
            <a:endParaRPr lang="en-US" sz="950" dirty="0"/>
          </a:p>
        </p:txBody>
      </p:sp>
      <p:sp>
        <p:nvSpPr>
          <p:cNvPr id="23" name="Text 19"/>
          <p:cNvSpPr/>
          <p:nvPr/>
        </p:nvSpPr>
        <p:spPr>
          <a:xfrm>
            <a:off x="4526280" y="2889504"/>
            <a:ext cx="3108960" cy="384048"/>
          </a:xfrm>
          <a:prstGeom prst="rect">
            <a:avLst/>
          </a:prstGeom>
          <a:noFill/>
          <a:ln/>
        </p:spPr>
        <p:txBody>
          <a:bodyPr wrap="square" lIns="0" tIns="0" rIns="0" bIns="0" rtlCol="0" anchor="ctr"/>
          <a:lstStyle/>
          <a:p>
            <a:pPr algn="l" indent="0" marL="0">
              <a:buNone/>
            </a:pPr>
            <a:r>
              <a:rPr lang="en-US" sz="1800" b="1" dirty="0">
                <a:solidFill>
                  <a:srgbClr val="1E2761"/>
                </a:solidFill>
                <a:latin typeface="Georgia" pitchFamily="34" charset="0"/>
                <a:ea typeface="Georgia" pitchFamily="34" charset="-122"/>
                <a:cs typeface="Georgia" pitchFamily="34" charset="-120"/>
              </a:rPr>
              <a:t>+ Opportunitätskosten</a:t>
            </a:r>
            <a:endParaRPr lang="en-US" sz="1800" dirty="0"/>
          </a:p>
        </p:txBody>
      </p:sp>
      <p:sp>
        <p:nvSpPr>
          <p:cNvPr id="24" name="Text 20"/>
          <p:cNvSpPr/>
          <p:nvPr/>
        </p:nvSpPr>
        <p:spPr>
          <a:xfrm>
            <a:off x="4526280" y="3337560"/>
            <a:ext cx="3154680" cy="1234440"/>
          </a:xfrm>
          <a:prstGeom prst="rect">
            <a:avLst/>
          </a:prstGeom>
          <a:noFill/>
          <a:ln/>
        </p:spPr>
        <p:txBody>
          <a:bodyPr wrap="square" lIns="0" tIns="0" rIns="0" bIns="0" rtlCol="0" anchor="t"/>
          <a:lstStyle/>
          <a:p>
            <a:pPr algn="l" marL="152400" indent="-152400">
              <a:spcAft>
                <a:spcPts val="600"/>
              </a:spcAft>
              <a:buSzPct val="100000"/>
              <a:buChar char="•"/>
            </a:pPr>
            <a:r>
              <a:rPr lang="en-US" sz="1050" dirty="0">
                <a:solidFill>
                  <a:srgbClr val="5A6173"/>
                </a:solidFill>
                <a:latin typeface="Calibri" pitchFamily="34" charset="0"/>
                <a:ea typeface="Calibri" pitchFamily="34" charset="-122"/>
                <a:cs typeface="Calibri" pitchFamily="34" charset="-120"/>
              </a:rPr>
              <a:t>Kapazität ist begrenzt</a:t>
            </a:r>
            <a:endParaRPr lang="en-US" sz="1050" dirty="0"/>
          </a:p>
          <a:p>
            <a:pPr algn="l" marL="152400" indent="-152400">
              <a:spcAft>
                <a:spcPts val="600"/>
              </a:spcAft>
              <a:buSzPct val="100000"/>
              <a:buChar char="•"/>
            </a:pPr>
            <a:r>
              <a:rPr lang="en-US" sz="1050" dirty="0">
                <a:solidFill>
                  <a:srgbClr val="5A6173"/>
                </a:solidFill>
                <a:latin typeface="Calibri" pitchFamily="34" charset="0"/>
                <a:ea typeface="Calibri" pitchFamily="34" charset="-122"/>
                <a:cs typeface="Calibri" pitchFamily="34" charset="-120"/>
              </a:rPr>
              <a:t>Opportunitätskosten = entgangener Deckungsbeitrag der verdrängten Alternative</a:t>
            </a:r>
            <a:endParaRPr lang="en-US" sz="1050" dirty="0"/>
          </a:p>
        </p:txBody>
      </p:sp>
      <p:sp>
        <p:nvSpPr>
          <p:cNvPr id="25" name="Shape 21"/>
          <p:cNvSpPr/>
          <p:nvPr/>
        </p:nvSpPr>
        <p:spPr>
          <a:xfrm>
            <a:off x="4526280" y="4727448"/>
            <a:ext cx="3108960" cy="841248"/>
          </a:xfrm>
          <a:prstGeom prst="rect">
            <a:avLst/>
          </a:prstGeom>
          <a:solidFill>
            <a:srgbClr val="1E2761"/>
          </a:solidFill>
          <a:ln/>
        </p:spPr>
      </p:sp>
      <p:sp>
        <p:nvSpPr>
          <p:cNvPr id="26" name="Text 22"/>
          <p:cNvSpPr/>
          <p:nvPr/>
        </p:nvSpPr>
        <p:spPr>
          <a:xfrm>
            <a:off x="4526280" y="4727448"/>
            <a:ext cx="3108960" cy="841248"/>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kᵥ + OK &lt; p_FB</a:t>
            </a:r>
            <a:endParaRPr lang="en-US" sz="1300" dirty="0"/>
          </a:p>
          <a:p>
            <a:pPr algn="ctr" indent="0" marL="0">
              <a:buNone/>
            </a:pPr>
            <a:r>
              <a:rPr lang="en-US" sz="1300" b="1" dirty="0">
                <a:solidFill>
                  <a:srgbClr val="FFFFFF"/>
                </a:solidFill>
                <a:latin typeface="Consolas" pitchFamily="34" charset="0"/>
                <a:ea typeface="Consolas" pitchFamily="34" charset="-122"/>
                <a:cs typeface="Consolas" pitchFamily="34" charset="-120"/>
              </a:rPr>
              <a:t>→  nur dann Eigenfertigung</a:t>
            </a:r>
            <a:endParaRPr lang="en-US" sz="1300" dirty="0"/>
          </a:p>
        </p:txBody>
      </p:sp>
      <p:sp>
        <p:nvSpPr>
          <p:cNvPr id="27" name="Shape 23"/>
          <p:cNvSpPr/>
          <p:nvPr/>
        </p:nvSpPr>
        <p:spPr>
          <a:xfrm>
            <a:off x="8229600" y="1554480"/>
            <a:ext cx="3657600" cy="4160520"/>
          </a:xfrm>
          <a:prstGeom prst="rect">
            <a:avLst/>
          </a:prstGeom>
          <a:solidFill>
            <a:srgbClr val="F4F7FD"/>
          </a:solidFill>
          <a:ln w="12700">
            <a:solidFill>
              <a:srgbClr val="DCE4F5"/>
            </a:solidFill>
            <a:prstDash val="solid"/>
          </a:ln>
          <a:effectLst>
            <a:outerShdw sx="100000" sy="100000" kx="0" ky="0" algn="bl" rotWithShape="0" blurRad="88900" dist="38100" dir="8100000">
              <a:srgbClr val="000000">
                <a:alpha val="12000"/>
              </a:srgbClr>
            </a:outerShdw>
          </a:effectLst>
        </p:spPr>
      </p:sp>
      <p:sp>
        <p:nvSpPr>
          <p:cNvPr id="28" name="Shape 24"/>
          <p:cNvSpPr/>
          <p:nvPr/>
        </p:nvSpPr>
        <p:spPr>
          <a:xfrm>
            <a:off x="8229600" y="1554480"/>
            <a:ext cx="3657600" cy="109728"/>
          </a:xfrm>
          <a:prstGeom prst="rect">
            <a:avLst/>
          </a:prstGeom>
          <a:solidFill>
            <a:srgbClr val="2EA86A"/>
          </a:solidFill>
          <a:ln/>
        </p:spPr>
      </p:sp>
      <p:sp>
        <p:nvSpPr>
          <p:cNvPr id="29" name="Shape 25"/>
          <p:cNvSpPr/>
          <p:nvPr/>
        </p:nvSpPr>
        <p:spPr>
          <a:xfrm>
            <a:off x="8503920" y="1874520"/>
            <a:ext cx="658368" cy="658368"/>
          </a:xfrm>
          <a:prstGeom prst="ellipse">
            <a:avLst/>
          </a:prstGeom>
          <a:solidFill>
            <a:srgbClr val="1E2761"/>
          </a:solidFill>
          <a:ln/>
        </p:spPr>
      </p:sp>
      <p:pic>
        <p:nvPicPr>
          <p:cNvPr id="30" name="Image 2" descr="preencoded.png">    </p:cNvPr>
          <p:cNvPicPr>
            <a:picLocks noChangeAspect="1"/>
          </p:cNvPicPr>
          <p:nvPr/>
        </p:nvPicPr>
        <p:blipFill>
          <a:blip r:embed="rId3"/>
          <a:stretch>
            <a:fillRect/>
          </a:stretch>
        </p:blipFill>
        <p:spPr>
          <a:xfrm>
            <a:off x="8659368" y="2029968"/>
            <a:ext cx="347472" cy="347472"/>
          </a:xfrm>
          <a:prstGeom prst="rect">
            <a:avLst/>
          </a:prstGeom>
        </p:spPr>
      </p:pic>
      <p:sp>
        <p:nvSpPr>
          <p:cNvPr id="31" name="Text 26"/>
          <p:cNvSpPr/>
          <p:nvPr/>
        </p:nvSpPr>
        <p:spPr>
          <a:xfrm>
            <a:off x="11109960" y="1828800"/>
            <a:ext cx="548640" cy="548640"/>
          </a:xfrm>
          <a:prstGeom prst="rect">
            <a:avLst/>
          </a:prstGeom>
          <a:noFill/>
          <a:ln/>
        </p:spPr>
        <p:txBody>
          <a:bodyPr wrap="square" lIns="0" tIns="0" rIns="0" bIns="0" rtlCol="0" anchor="t"/>
          <a:lstStyle/>
          <a:p>
            <a:pPr algn="r" indent="0" marL="0">
              <a:buNone/>
            </a:pPr>
            <a:r>
              <a:rPr lang="en-US" sz="4000" b="1" dirty="0">
                <a:solidFill>
                  <a:srgbClr val="DCE4F5"/>
                </a:solidFill>
                <a:latin typeface="Georgia" pitchFamily="34" charset="0"/>
                <a:ea typeface="Georgia" pitchFamily="34" charset="-122"/>
                <a:cs typeface="Georgia" pitchFamily="34" charset="-120"/>
              </a:rPr>
              <a:t>3</a:t>
            </a:r>
            <a:endParaRPr lang="en-US" sz="4000" dirty="0"/>
          </a:p>
        </p:txBody>
      </p:sp>
      <p:sp>
        <p:nvSpPr>
          <p:cNvPr id="32" name="Text 27"/>
          <p:cNvSpPr/>
          <p:nvPr/>
        </p:nvSpPr>
        <p:spPr>
          <a:xfrm>
            <a:off x="8503920" y="2651760"/>
            <a:ext cx="3108960" cy="256032"/>
          </a:xfrm>
          <a:prstGeom prst="rect">
            <a:avLst/>
          </a:prstGeom>
          <a:noFill/>
          <a:ln/>
        </p:spPr>
        <p:txBody>
          <a:bodyPr wrap="square" lIns="0" tIns="0" rIns="0" bIns="0" rtlCol="0" anchor="ctr"/>
          <a:lstStyle/>
          <a:p>
            <a:pPr algn="l" indent="0" marL="0">
              <a:buNone/>
            </a:pPr>
            <a:r>
              <a:rPr lang="en-US" sz="950" b="1" spc="100" kern="0" dirty="0">
                <a:solidFill>
                  <a:srgbClr val="2EA86A"/>
                </a:solidFill>
              </a:rPr>
              <a:t>LANGFRISTIG</a:t>
            </a:r>
            <a:endParaRPr lang="en-US" sz="950" dirty="0"/>
          </a:p>
        </p:txBody>
      </p:sp>
      <p:sp>
        <p:nvSpPr>
          <p:cNvPr id="33" name="Text 28"/>
          <p:cNvSpPr/>
          <p:nvPr/>
        </p:nvSpPr>
        <p:spPr>
          <a:xfrm>
            <a:off x="8503920" y="2889504"/>
            <a:ext cx="3108960" cy="384048"/>
          </a:xfrm>
          <a:prstGeom prst="rect">
            <a:avLst/>
          </a:prstGeom>
          <a:noFill/>
          <a:ln/>
        </p:spPr>
        <p:txBody>
          <a:bodyPr wrap="square" lIns="0" tIns="0" rIns="0" bIns="0" rtlCol="0" anchor="ctr"/>
          <a:lstStyle/>
          <a:p>
            <a:pPr algn="l" indent="0" marL="0">
              <a:buNone/>
            </a:pPr>
            <a:r>
              <a:rPr lang="en-US" sz="1800" b="1" dirty="0">
                <a:solidFill>
                  <a:srgbClr val="1E2761"/>
                </a:solidFill>
                <a:latin typeface="Georgia" pitchFamily="34" charset="0"/>
                <a:ea typeface="Georgia" pitchFamily="34" charset="-122"/>
                <a:cs typeface="Georgia" pitchFamily="34" charset="-120"/>
              </a:rPr>
              <a:t>Strategische Sicht</a:t>
            </a:r>
            <a:endParaRPr lang="en-US" sz="1800" dirty="0"/>
          </a:p>
        </p:txBody>
      </p:sp>
      <p:sp>
        <p:nvSpPr>
          <p:cNvPr id="34" name="Text 29"/>
          <p:cNvSpPr/>
          <p:nvPr/>
        </p:nvSpPr>
        <p:spPr>
          <a:xfrm>
            <a:off x="8503920" y="3337560"/>
            <a:ext cx="3154680" cy="1234440"/>
          </a:xfrm>
          <a:prstGeom prst="rect">
            <a:avLst/>
          </a:prstGeom>
          <a:noFill/>
          <a:ln/>
        </p:spPr>
        <p:txBody>
          <a:bodyPr wrap="square" lIns="0" tIns="0" rIns="0" bIns="0" rtlCol="0" anchor="t"/>
          <a:lstStyle/>
          <a:p>
            <a:pPr algn="l" marL="152400" indent="-152400">
              <a:spcAft>
                <a:spcPts val="600"/>
              </a:spcAft>
              <a:buSzPct val="100000"/>
              <a:buChar char="•"/>
            </a:pPr>
            <a:r>
              <a:rPr lang="en-US" sz="1050" dirty="0">
                <a:solidFill>
                  <a:srgbClr val="5A6173"/>
                </a:solidFill>
                <a:latin typeface="Calibri" pitchFamily="34" charset="0"/>
                <a:ea typeface="Calibri" pitchFamily="34" charset="-122"/>
                <a:cs typeface="Calibri" pitchFamily="34" charset="-120"/>
              </a:rPr>
              <a:t>Fixkosten &amp; Produktionsapparat veränderbar</a:t>
            </a:r>
            <a:endParaRPr lang="en-US" sz="1050" dirty="0"/>
          </a:p>
          <a:p>
            <a:pPr algn="l" marL="152400" indent="-152400">
              <a:spcAft>
                <a:spcPts val="600"/>
              </a:spcAft>
              <a:buSzPct val="100000"/>
              <a:buChar char="•"/>
            </a:pPr>
            <a:r>
              <a:rPr lang="en-US" sz="1050" dirty="0">
                <a:solidFill>
                  <a:srgbClr val="5A6173"/>
                </a:solidFill>
                <a:latin typeface="Calibri" pitchFamily="34" charset="0"/>
                <a:ea typeface="Calibri" pitchFamily="34" charset="-122"/>
                <a:cs typeface="Calibri" pitchFamily="34" charset="-120"/>
              </a:rPr>
              <a:t>Investitionsrechnung · Qualität · Know-how · Lieferfähigkeit · Abhängigkeit · strateg. Bedeutung</a:t>
            </a:r>
            <a:endParaRPr lang="en-US" sz="1050" dirty="0"/>
          </a:p>
        </p:txBody>
      </p:sp>
      <p:sp>
        <p:nvSpPr>
          <p:cNvPr id="35" name="Shape 30"/>
          <p:cNvSpPr/>
          <p:nvPr/>
        </p:nvSpPr>
        <p:spPr>
          <a:xfrm>
            <a:off x="8503920" y="4727448"/>
            <a:ext cx="3108960" cy="841248"/>
          </a:xfrm>
          <a:prstGeom prst="rect">
            <a:avLst/>
          </a:prstGeom>
          <a:solidFill>
            <a:srgbClr val="CADCFC"/>
          </a:solidFill>
          <a:ln/>
        </p:spPr>
      </p:sp>
      <p:sp>
        <p:nvSpPr>
          <p:cNvPr id="36" name="Text 31"/>
          <p:cNvSpPr/>
          <p:nvPr/>
        </p:nvSpPr>
        <p:spPr>
          <a:xfrm>
            <a:off x="8503920" y="4727448"/>
            <a:ext cx="3108960" cy="841248"/>
          </a:xfrm>
          <a:prstGeom prst="rect">
            <a:avLst/>
          </a:prstGeom>
          <a:noFill/>
          <a:ln/>
        </p:spPr>
        <p:txBody>
          <a:bodyPr wrap="square" lIns="50800" tIns="50800" rIns="50800" bIns="50800" rtlCol="0" anchor="ctr"/>
          <a:lstStyle/>
          <a:p>
            <a:pPr algn="ctr" indent="0" marL="0">
              <a:buNone/>
            </a:pPr>
            <a:r>
              <a:rPr lang="en-US" sz="1200" b="1" i="1" dirty="0">
                <a:solidFill>
                  <a:srgbClr val="1E2761"/>
                </a:solidFill>
                <a:latin typeface="Calibri" pitchFamily="34" charset="0"/>
                <a:ea typeface="Calibri" pitchFamily="34" charset="-122"/>
                <a:cs typeface="Calibri" pitchFamily="34" charset="-120"/>
              </a:rPr>
              <a:t>Keine reine Preisformel –</a:t>
            </a:r>
            <a:endParaRPr lang="en-US" sz="1200" dirty="0"/>
          </a:p>
          <a:p>
            <a:pPr algn="ctr" indent="0" marL="0">
              <a:buNone/>
            </a:pPr>
            <a:r>
              <a:rPr lang="en-US" sz="1200" b="1" i="1" dirty="0">
                <a:solidFill>
                  <a:srgbClr val="1E2761"/>
                </a:solidFill>
                <a:latin typeface="Calibri" pitchFamily="34" charset="0"/>
                <a:ea typeface="Calibri" pitchFamily="34" charset="-122"/>
                <a:cs typeface="Calibri" pitchFamily="34" charset="-120"/>
              </a:rPr>
              <a:t>mehrdimensionale Bewertung</a:t>
            </a:r>
            <a:endParaRPr lang="en-US" sz="1200" dirty="0"/>
          </a:p>
        </p:txBody>
      </p:sp>
      <p:sp>
        <p:nvSpPr>
          <p:cNvPr id="37" name="Shape 32"/>
          <p:cNvSpPr/>
          <p:nvPr/>
        </p:nvSpPr>
        <p:spPr>
          <a:xfrm>
            <a:off x="0" y="5943600"/>
            <a:ext cx="12161520" cy="914400"/>
          </a:xfrm>
          <a:prstGeom prst="rect">
            <a:avLst/>
          </a:prstGeom>
          <a:solidFill>
            <a:srgbClr val="151B45"/>
          </a:solidFill>
          <a:ln/>
        </p:spPr>
      </p:sp>
      <p:sp>
        <p:nvSpPr>
          <p:cNvPr id="38" name="Shape 33"/>
          <p:cNvSpPr/>
          <p:nvPr/>
        </p:nvSpPr>
        <p:spPr>
          <a:xfrm>
            <a:off x="0" y="5943600"/>
            <a:ext cx="146304" cy="914400"/>
          </a:xfrm>
          <a:prstGeom prst="rect">
            <a:avLst/>
          </a:prstGeom>
          <a:solidFill>
            <a:srgbClr val="2EA86A"/>
          </a:solidFill>
          <a:ln/>
        </p:spPr>
      </p:sp>
      <p:sp>
        <p:nvSpPr>
          <p:cNvPr id="39" name="Text 34"/>
          <p:cNvSpPr/>
          <p:nvPr/>
        </p:nvSpPr>
        <p:spPr>
          <a:xfrm>
            <a:off x="502920" y="5943600"/>
            <a:ext cx="11247120" cy="914400"/>
          </a:xfrm>
          <a:prstGeom prst="rect">
            <a:avLst/>
          </a:prstGeom>
          <a:noFill/>
          <a:ln/>
        </p:spPr>
        <p:txBody>
          <a:bodyPr wrap="square" lIns="0" tIns="0" rIns="0" bIns="0" rtlCol="0" anchor="ctr"/>
          <a:lstStyle/>
          <a:p>
            <a:pPr algn="l" indent="0" marL="0">
              <a:buNone/>
            </a:pPr>
            <a:r>
              <a:rPr lang="en-US" sz="1400" b="1" spc="100" kern="0" dirty="0">
                <a:solidFill>
                  <a:srgbClr val="2EA86A"/>
                </a:solidFill>
                <a:latin typeface="Calibri" pitchFamily="34" charset="0"/>
                <a:ea typeface="Calibri" pitchFamily="34" charset="-122"/>
                <a:cs typeface="Calibri" pitchFamily="34" charset="-120"/>
              </a:rPr>
              <a:t>FAZIT   </a:t>
            </a:r>
            <a:pPr algn="l" indent="0" marL="0">
              <a:buNone/>
            </a:pPr>
            <a:r>
              <a:rPr lang="en-US" sz="1500" b="1" dirty="0">
                <a:solidFill>
                  <a:srgbClr val="FFFFFF"/>
                </a:solidFill>
                <a:latin typeface="Calibri" pitchFamily="34" charset="0"/>
                <a:ea typeface="Calibri" pitchFamily="34" charset="-122"/>
                <a:cs typeface="Calibri" pitchFamily="34" charset="-120"/>
              </a:rPr>
              <a:t>Make-or-Buy verbindet Kostenrechnung, Kapazitätssteuerung und strategisches Controlling.</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Make-or-Buy-Entscheidung im Produktionscontrolling</dc:title>
  <dc:subject>PptxGenJS Presentation</dc:subject>
  <dc:creator>Wirtschaftsingenieurwesen</dc:creator>
  <cp:lastModifiedBy>Wirtschaftsingenieurwesen</cp:lastModifiedBy>
  <cp:revision>1</cp:revision>
  <dcterms:created xsi:type="dcterms:W3CDTF">2026-06-16T13:10:00Z</dcterms:created>
  <dcterms:modified xsi:type="dcterms:W3CDTF">2026-06-16T13:10:00Z</dcterms:modified>
</cp:coreProperties>
</file>